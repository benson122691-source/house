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be4d6c3bcf408e" /><Relationship Type="http://schemas.openxmlformats.org/officeDocument/2006/relationships/extended-properties" Target="/docProps/app.xml" Id="R11693307092e4e65" /><Relationship Type="http://schemas.openxmlformats.org/officeDocument/2006/relationships/officeDocument" Target="/ppt/presentation.xml" Id="Re2233a9575f04b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eddec1203e453e"/>
  </p:sldMasterIdLst>
  <p:notesMasterIdLst>
    <p:notesMasterId xmlns:r="http://schemas.openxmlformats.org/officeDocument/2006/relationships" r:id="R35c7b0bb380a4606"/>
  </p:notesMasterIdLst>
  <p:sldIdLst>
    <p:sldId xmlns:r="http://schemas.openxmlformats.org/officeDocument/2006/relationships" id="256" r:id="R28323cc24f764a93"/>
    <p:sldId xmlns:r="http://schemas.openxmlformats.org/officeDocument/2006/relationships" id="257" r:id="Rac0d5bd4639b47e0"/>
    <p:sldId xmlns:r="http://schemas.openxmlformats.org/officeDocument/2006/relationships" id="258" r:id="Rb545c4c9151b4b2a"/>
    <p:sldId xmlns:r="http://schemas.openxmlformats.org/officeDocument/2006/relationships" id="259" r:id="R8915bea23aa44904"/>
    <p:sldId xmlns:r="http://schemas.openxmlformats.org/officeDocument/2006/relationships" id="260" r:id="R8efabd88ec1a4cb7"/>
    <p:sldId xmlns:r="http://schemas.openxmlformats.org/officeDocument/2006/relationships" id="261" r:id="R19bf2c7c50454f8a"/>
    <p:sldId xmlns:r="http://schemas.openxmlformats.org/officeDocument/2006/relationships" id="262" r:id="R0c0497c15a7a49aa"/>
    <p:sldId xmlns:r="http://schemas.openxmlformats.org/officeDocument/2006/relationships" id="263" r:id="R42d57cb7402b4e0e"/>
    <p:sldId xmlns:r="http://schemas.openxmlformats.org/officeDocument/2006/relationships" id="264" r:id="R6daeba7599b841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397dcf80a5407c" /><Relationship Type="http://schemas.openxmlformats.org/officeDocument/2006/relationships/slideMaster" Target="/ppt/slideMasters/slideMaster1.xml" Id="R8ceddec1203e453e" /><Relationship Type="http://schemas.openxmlformats.org/officeDocument/2006/relationships/notesMaster" Target="/ppt/notesMasters/notesMaster1.xml" Id="R35c7b0bb380a4606" /><Relationship Type="http://schemas.openxmlformats.org/officeDocument/2006/relationships/presProps" Target="/ppt/presProps.xml" Id="R33f01fc42afe4f7b" /><Relationship Type="http://schemas.openxmlformats.org/officeDocument/2006/relationships/tableStyles" Target="/ppt/tableStyles.xml" Id="R845c8d4c29914952" /><Relationship Type="http://schemas.openxmlformats.org/officeDocument/2006/relationships/slide" Target="/ppt/slides/slide1.xml" Id="R28323cc24f764a93" /><Relationship Type="http://schemas.openxmlformats.org/officeDocument/2006/relationships/slide" Target="/ppt/slides/slide2.xml" Id="Rac0d5bd4639b47e0" /><Relationship Type="http://schemas.openxmlformats.org/officeDocument/2006/relationships/slide" Target="/ppt/slides/slide3.xml" Id="Rb545c4c9151b4b2a" /><Relationship Type="http://schemas.openxmlformats.org/officeDocument/2006/relationships/slide" Target="/ppt/slides/slide4.xml" Id="R8915bea23aa44904" /><Relationship Type="http://schemas.openxmlformats.org/officeDocument/2006/relationships/slide" Target="/ppt/slides/slide5.xml" Id="R8efabd88ec1a4cb7" /><Relationship Type="http://schemas.openxmlformats.org/officeDocument/2006/relationships/slide" Target="/ppt/slides/slide6.xml" Id="R19bf2c7c50454f8a" /><Relationship Type="http://schemas.openxmlformats.org/officeDocument/2006/relationships/slide" Target="/ppt/slides/slide7.xml" Id="R0c0497c15a7a49aa" /><Relationship Type="http://schemas.openxmlformats.org/officeDocument/2006/relationships/slide" Target="/ppt/slides/slide8.xml" Id="R42d57cb7402b4e0e" /><Relationship Type="http://schemas.openxmlformats.org/officeDocument/2006/relationships/slide" Target="/ppt/slides/slide9.xml" Id="R6daeba7599b841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e02708f3dc4f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c1dc825f3c42d1" /><Relationship Type="http://schemas.openxmlformats.org/officeDocument/2006/relationships/notesMaster" Target="/ppt/notesMasters/notesMaster1.xml" Id="Rc6179af6e38645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139beffd16401a" /><Relationship Type="http://schemas.openxmlformats.org/officeDocument/2006/relationships/notesMaster" Target="/ppt/notesMasters/notesMaster1.xml" Id="Rfe809d3777124d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3ea8ce061c4a4d" /><Relationship Type="http://schemas.openxmlformats.org/officeDocument/2006/relationships/notesMaster" Target="/ppt/notesMasters/notesMaster1.xml" Id="R475c330420674c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60bb90ca1b4dab" /><Relationship Type="http://schemas.openxmlformats.org/officeDocument/2006/relationships/notesMaster" Target="/ppt/notesMasters/notesMaster1.xml" Id="R363c3104774b49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3e8d5dd63f4112" /><Relationship Type="http://schemas.openxmlformats.org/officeDocument/2006/relationships/notesMaster" Target="/ppt/notesMasters/notesMaster1.xml" Id="R1a66fc4fb3504d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dbceffb09a48d5" /><Relationship Type="http://schemas.openxmlformats.org/officeDocument/2006/relationships/notesMaster" Target="/ppt/notesMasters/notesMaster1.xml" Id="R542ff10c808048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9302b151bf4700" /><Relationship Type="http://schemas.openxmlformats.org/officeDocument/2006/relationships/notesMaster" Target="/ppt/notesMasters/notesMaster1.xml" Id="Rc640e8cfb4ba44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d7063e11644380" /><Relationship Type="http://schemas.openxmlformats.org/officeDocument/2006/relationships/notesMaster" Target="/ppt/notesMasters/notesMaster1.xml" Id="R0306a90d4de04d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fc53a1bf1141c0" /><Relationship Type="http://schemas.openxmlformats.org/officeDocument/2006/relationships/notesMaster" Target="/ppt/notesMasters/notesMaster1.xml" Id="Ra82c2c91cf994f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講稿時間：30 秒。</a:t>
            </a:r>
          </a:p>
          <a:p xmlns:a="http://schemas.openxmlformats.org/drawingml/2006/main">
            <a:r>
              <a:t>開場：房屋的售價是一次性金額，租金是多年現金流。本專題把兩種選擇換算到同一個十年期末，回答在不同假設下哪條路徑累積的總資產較高。畫面右側只示意比較架構，不是模型結果。</a:t>
            </a:r>
          </a:p>
          <a:p xmlns:a="http://schemas.openxmlformats.org/drawingml/2006/main">
            <a:r>
              <a:t>本頁無外部數據引用。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講稿時間：1 分鐘。</a:t>
            </a:r>
          </a:p>
          <a:p xmlns:a="http://schemas.openxmlformats.org/drawingml/2006/main">
            <a:r>
              <a:t>說明賣價與月租不同單位，不能直接比大小。出售方案需扣除當下交易成本、稅費與貸款餘額，再假設投入其他投資；出租方案需扣除逐年成本，將淨租金累積到期末，並加上期末出售房屋後的淨值。兩方案都比較第 N 年可持有的總資產。</a:t>
            </a:r>
          </a:p>
          <a:p xmlns:a="http://schemas.openxmlformats.org/drawingml/2006/main">
            <a:r>
              <a:t>本頁為研究方法說明，沒有外部數據主張。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講稿時間：1 分 30 秒。</a:t>
            </a:r>
          </a:p>
          <a:p xmlns:a="http://schemas.openxmlformats.org/drawingml/2006/main">
            <a:r>
              <a:t>模型訓練使用新北市政府公開的租賃和買賣實價資料，讓地區一致；租賃 44,852 筆原始記錄，清理後 43,937 筆，買賣 50,065 筆原始記錄，清理後 41,682 筆。訓練資料截至官方檔案可取得的最新記錄，租賃成交到 2026-07-20，買賣到 2026-08-13。</a:t>
            </a:r>
          </a:p>
          <a:p xmlns:a="http://schemas.openxmlformats.org/drawingml/2006/main">
            <a:r>
              <a:t>591 HTML 爬蟲是技術展示，不宣稱已取得 591 成交資料；模型分數來自政府實登 CSV。開價與成交價定義不同，分開保留。</a:t>
            </a:r>
          </a:p>
          <a:p xmlns:a="http://schemas.openxmlformats.org/drawingml/2006/main">
            <a:r>
              <a:t>資料來源：新北市租賃實價資料 https://data.gov.tw/dataset/173898</a:t>
            </a:r>
          </a:p>
          <a:p xmlns:a="http://schemas.openxmlformats.org/drawingml/2006/main">
            <a:r>
              <a:t>新北市買賣實價資料 https://data.ntpc.gov.tw/datasets/ACCE802D-58CC-4DFF-9E7A-9ECC517F78BE</a:t>
            </a:r>
          </a:p>
          <a:p xmlns:a="http://schemas.openxmlformats.org/drawingml/2006/main">
            <a:r>
              <a:t>操作公開網站前應遵守 robots.txt、服務條款與低頻率請求規範。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講稿時間：1 分 30 秒。</a:t>
            </a:r>
          </a:p>
          <a:p xmlns:a="http://schemas.openxmlformats.org/drawingml/2006/main">
            <a:r>
              <a:t>這是兩個監督式迴歸問題。租金模型的 y 是每坪月租，售價模型的 y 是每坪成交單價；預測後乘回房屋坪數，得到月租與總價。共同變數包含行政區、面積、建物屋齡、樓層比例、房廳衛、型態、用途、交易年月。租金另有房型、家具；售價另有車位與車位總價。管理與電梯兩邊都有。屋齡由交易年減建築完成年計算，樓層比例由所在樓層除總樓層得到。</a:t>
            </a:r>
          </a:p>
          <a:p xmlns:a="http://schemas.openxmlformats.org/drawingml/2006/main">
            <a:r>
              <a:t>清理後將類別欄位 one-hot 編碼、數值缺值用中位數填補；租售各自比較中位數基準、Ridge 線性迴歸、Random Forest。Random Forest 用多棵決策樹的平均預測，能表達非線性與特徵交互。資料依交易日期排序，前 80% 訓練、最新 20% 保留測試，避免未來資料滲入訓練。目標極端值兩端各裁掉 0.5%，需在研究限制中說明。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講稿時間：3 分鐘。</a:t>
            </a:r>
          </a:p>
          <a:p xmlns:a="http://schemas.openxmlformats.org/drawingml/2006/main">
            <a:r>
              <a:t>這頁是實際跑出的測試結果，不是模擬數字。租金訓練 35149 筆、保留測試 8788 筆，時間測試區間 2026-05-12 至 2026-07-20。售價訓練 33345 筆、測試 8337 筆，期間 2026-02-03 至 2026-08-13。租金 MAE 單位是元/月/坪；售價 MAE 單位是萬元/坪。</a:t>
            </a:r>
          </a:p>
          <a:p xmlns:a="http://schemas.openxmlformats.org/drawingml/2006/main">
            <a:r>
              <a:t>租金：中位數 MAE 361.555、Ridge 224.967、Random Forest 139.669；RMSE 分別 569.239、363.288、220.254。</a:t>
            </a:r>
          </a:p>
          <a:p xmlns:a="http://schemas.openxmlformats.org/drawingml/2006/main">
            <a:r>
              <a:t>售價：中位數 MAE 14.162、Ridge 8.76、Random Forest 7.165；RMSE 分別 17.529、11.792、10.065。</a:t>
            </a:r>
          </a:p>
          <a:p xmlns:a="http://schemas.openxmlformats.org/drawingml/2006/main">
            <a:r>
              <a:t>MAE 是平均絕對誤差，RMSE 對較大的誤差懲罰較重。這是目前特定地區與時間資料的留出測試結果，並不保證個別房屋的誤差上限，也不代表未來價格表現。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講稿時間：2 分鐘。</a:t>
            </a:r>
          </a:p>
          <a:p xmlns:a="http://schemas.openxmlformats.org/drawingml/2006/main">
            <a:r>
              <a:t>現在出售 A：成交價扣仲介與交易費、售屋稅、貸款餘額，再把淨額依投資報酬率複利 N 年。持有出租 B：每年收租先扣空置、管理維修保險、房屋稅、地價稅、租賃所得稅和當年完整貸款支付，淨額投資到第 N 年；加上期末房價，扣最後交易費、售屋稅與剩餘貸款。</a:t>
            </a:r>
          </a:p>
          <a:p xmlns:a="http://schemas.openxmlformats.org/drawingml/2006/main">
            <a:r>
              <a:t>房屋稅2.0下出租住家申報達一般租金標準者法定稅率範圍1.5%至2.4%；一般非自住住家法定範圍2%至4.8%，實際依地方規則、全國持有戶數與房屋評定現值計算。地價稅自用住宅用地2‰只適用符合條件者；一般用地另有級距。房屋土地出售時可能涉及房地合一所得稅和土地增值稅，稅基與持有期間、取得成本、公告現值等相關。</a:t>
            </a:r>
          </a:p>
          <a:p xmlns:a="http://schemas.openxmlformats.org/drawingml/2006/main">
            <a:r>
              <a:t>本簡報用「稅額輸入」承接個案，不自動推算個人的法定稅額。財政部房屋稅2.0 FAQ：https://www.mof.gov.tw/house/multiplehtml/41e7424fa26e4d41905ed1800fd9fabc</a:t>
            </a:r>
          </a:p>
          <a:p xmlns:a="http://schemas.openxmlformats.org/drawingml/2006/main">
            <a:r>
              <a:t>財政部地價稅說明：https://www.dot.gov.tw/singlehtml/ch_146</a:t>
            </a:r>
          </a:p>
          <a:p xmlns:a="http://schemas.openxmlformats.org/drawingml/2006/main">
            <a:r>
              <a:t>財政部土地增值稅說明：https://www.etax.nat.gov.tw/etwmain/tax-info/understanding/tax-saving-manual/local/land-value-increment-tax/noaGA0q</a:t>
            </a:r>
          </a:p>
          <a:p xmlns:a="http://schemas.openxmlformats.org/drawingml/2006/main">
            <a:r>
              <a:t>個人房地合一稅說明：https://www.mof.gov.tw/houseandland/multiplehtml/de144e74630c4ac59f2d84a068c889c9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講稿時間：2 分鐘。</a:t>
            </a:r>
          </a:p>
          <a:p xmlns:a="http://schemas.openxmlformats.org/drawingml/2006/main">
            <a:r>
              <a:t>此案例使用同一組可比較的特徵輸入：新北板橋區、住宅大樓、30坪、屋齡15年、7樓/14樓、3房2廳2衛、有管理與電梯、無車位。隨機森林預測每坪售價 59.61 萬，總售價約 1,788.3 萬；每坪月租 889.40 元，整戶月租約 26,682 元。</a:t>
            </a:r>
          </a:p>
          <a:p xmlns:a="http://schemas.openxmlformats.org/drawingml/2006/main">
            <a:r>
              <a:t>測試集 MAE 換算到30坪，售價平均絕對誤差約 215 萬、租金約 4,190 元/月。這只是測試集的平均誤差量級，不能當成此個案的誤差區間或信賴區間。</a:t>
            </a:r>
          </a:p>
          <a:p xmlns:a="http://schemas.openxmlformats.org/drawingml/2006/main">
            <a:r>
              <a:t>成本輸入：每年房屋稅＋地價稅4萬元、租賃所得稅2萬元、管理維修保險6萬元、空置5%；出售交易費4%，現在售屋稅45萬元、十年後60萬元；無貸款、租金和成本固定，出售淨額投資報酬3%。這些都是為示範比較而填入的數值，不是法律或稅務計算結果。年度淨租金約 18.42 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講稿時間：2 分鐘。</a:t>
            </a:r>
          </a:p>
          <a:p xmlns:a="http://schemas.openxmlformats.org/drawingml/2006/main">
            <a:r>
              <a:t>這張是原生可編輯 PowerPoint 長條圖。A 現在出售後投入投資，十年資產約 2,246.7 萬。B 持有出租：每年淨租金約 18.42 萬，按年末投入、年報酬3%累積十年約 211.1 萬，再加上期末房屋出售淨額。</a:t>
            </a:r>
          </a:p>
          <a:p xmlns:a="http://schemas.openxmlformats.org/drawingml/2006/main">
            <a:r>
              <a:t>房價年變動0%：出售 2,246.7 萬、出租 1,867.9 萬；2%：出售 2,246.7 萬、出租 2,243.9 萬；4%：出售 2,246.7 萬、出租 2,692.4 萬。</a:t>
            </a:r>
          </a:p>
          <a:p xmlns:a="http://schemas.openxmlformats.org/drawingml/2006/main">
            <a:r>
              <a:t>損益平衡約 2.01%，只對應本頁輸入假設。未計租金成長、房價波動路徑、通膨和其他個案項目；正式決策應把每年實際稅單、貸款攤還表、租約和出售稅務估算代入。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講稿時間：1 分鐘。</a:t>
            </a:r>
          </a:p>
          <a:p xmlns:a="http://schemas.openxmlformats.org/drawingml/2006/main">
            <a:r>
              <a:t>結論要附條件：使用目前模型預測的板橋假設住宅與示範成本輸入時，房價持平偏向出售；年漲2%時兩方案接近；年漲4%時出租較高。損益平衡約 2.01% 是試算結果，不是市場預測。測試集 MAE 指租金和售價模型在留出資料上的平均絕對誤差，不能解讀為每一間房一定落在該誤差內。</a:t>
            </a:r>
          </a:p>
          <a:p xmlns:a="http://schemas.openxmlformats.org/drawingml/2006/main">
            <a:r>
              <a:t>資料來源：新北市租賃實價 https://data.gov.tw/dataset/173898</a:t>
            </a:r>
          </a:p>
          <a:p xmlns:a="http://schemas.openxmlformats.org/drawingml/2006/main">
            <a:r>
              <a:t>新北市買賣實價 https://data.ntpc.gov.tw/datasets/ACCE802D-58CC-4DFF-9E7A-9ECC517F78BE</a:t>
            </a:r>
          </a:p>
          <a:p xmlns:a="http://schemas.openxmlformats.org/drawingml/2006/main">
            <a:r>
              <a:t>房屋稅2.0 FAQ https://www.mof.gov.tw/house/multiplehtml/41e7424fa26e4d41905ed1800fd9fabc</a:t>
            </a:r>
          </a:p>
          <a:p xmlns:a="http://schemas.openxmlformats.org/drawingml/2006/main">
            <a:r>
              <a:t>地價稅 https://www.dot.gov.tw/singlehtml/ch_146</a:t>
            </a:r>
          </a:p>
          <a:p xmlns:a="http://schemas.openxmlformats.org/drawingml/2006/main">
            <a:r>
              <a:t>土地增值稅 https://www.etax.nat.gov.tw/etwmain/tax-info/understanding/tax-saving-manual/local/land-value-increment-tax/noaGA0q</a:t>
            </a:r>
          </a:p>
          <a:p xmlns:a="http://schemas.openxmlformats.org/drawingml/2006/main">
            <a:r>
              <a:t>房地合一稅 https://www.mof.gov.tw/houseandland/multiplehtml/de144e74630c4ac59f2d84a068c889c9</a:t>
            </a:r>
          </a:p>
          <a:p xmlns:a="http://schemas.openxmlformats.org/drawingml/2006/main">
            <a:r>
              <a:t>RandomForestRegressor https://scikit-learn.org/stable/modules/generated/sklearn.ensemble.RandomForestRegressor.html</a:t>
            </a:r>
          </a:p>
          <a:p xmlns:a="http://schemas.openxmlformats.org/drawingml/2006/main">
            <a:r>
              <a:t>MAE https://scikit-learn.org/stable/modules/generated/sklearn.metrics.mean_absolute_error.html</a:t>
            </a:r>
          </a:p>
          <a:p xmlns:a="http://schemas.openxmlformats.org/drawingml/2006/main">
            <a:r>
              <a:t>RMSE https://scikit-learn.org/stable/modules/generated/sklearn.metrics.root_mean_squared_error.html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b1eaa96774d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1137cfd4a740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a6c99d51e41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514a79ec949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37ef7c896e46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8cde2aa2a54d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20412C-C275-4070-B87D-899FF5DCCD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EDAA632-C8C2-46E5-BDC7-31BEC0E429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33F9BD-53EB-444F-93F1-0FA9C63072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FFE291-16D7-4A8C-91DC-AD82E0EEA4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E6E6CC6-B95C-4B25-B6AE-6469FDD4E7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B67E7C-7E43-414C-A0E9-796AE68B3F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CC9EA6-D8D3-4966-8DDC-3F352D2C87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9C93437-7351-4CE4-91B6-11C44C25E6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0A53A2-DCB5-4049-9E32-B32A20AB2F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E364C7-70C0-4B19-9B2D-D0D7ACE7AB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37d2f3b0af49f4" /><Relationship Type="http://schemas.openxmlformats.org/officeDocument/2006/relationships/slideLayout" Target="/ppt/slideLayouts/slideLayout1.xml" Id="R5118ad14667642f1" /><Relationship Type="http://schemas.openxmlformats.org/officeDocument/2006/relationships/slideLayout" Target="/ppt/slideLayouts/slideLayout2.xml" Id="R45f4e88d8efa4560" /><Relationship Type="http://schemas.openxmlformats.org/officeDocument/2006/relationships/slideLayout" Target="/ppt/slideLayouts/slideLayout3.xml" Id="Rf710ecbc67ce41de" /><Relationship Type="http://schemas.openxmlformats.org/officeDocument/2006/relationships/slideLayout" Target="/ppt/slideLayouts/slideLayout4.xml" Id="Rb46f1f23b1404068" /><Relationship Type="http://schemas.openxmlformats.org/officeDocument/2006/relationships/slideLayout" Target="/ppt/slideLayouts/slideLayout5.xml" Id="R8912c2bbaa9d423f" /><Relationship Type="http://schemas.openxmlformats.org/officeDocument/2006/relationships/slideLayout" Target="/ppt/slideLayouts/slideLayout6.xml" Id="R0dc26b70a8d740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18ad14667642f1"/>
    <p:sldLayoutId xmlns:r="http://schemas.openxmlformats.org/officeDocument/2006/relationships" id="2147483650" r:id="R45f4e88d8efa4560"/>
    <p:sldLayoutId xmlns:r="http://schemas.openxmlformats.org/officeDocument/2006/relationships" id="2147483651" r:id="Rf710ecbc67ce41de"/>
    <p:sldLayoutId xmlns:r="http://schemas.openxmlformats.org/officeDocument/2006/relationships" id="2147483652" r:id="Rb46f1f23b1404068"/>
    <p:sldLayoutId xmlns:r="http://schemas.openxmlformats.org/officeDocument/2006/relationships" id="2147483653" r:id="R8912c2bbaa9d423f"/>
    <p:sldLayoutId xmlns:r="http://schemas.openxmlformats.org/officeDocument/2006/relationships" id="2147483654" r:id="R0dc26b70a8d740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8e7522c66e4d7f" /><Relationship Type="http://schemas.openxmlformats.org/officeDocument/2006/relationships/notesSlide" Target="/ppt/notesSlides/notesSlide1.xml" Id="Rea6caf59928f48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e90beae9164ef1" /><Relationship Type="http://schemas.openxmlformats.org/officeDocument/2006/relationships/notesSlide" Target="/ppt/notesSlides/notesSlide2.xml" Id="Ra0fea722d68846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307cbd95e34986" /><Relationship Type="http://schemas.openxmlformats.org/officeDocument/2006/relationships/notesSlide" Target="/ppt/notesSlides/notesSlide3.xml" Id="R90305827d11e48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6e257bf744334" /><Relationship Type="http://schemas.openxmlformats.org/officeDocument/2006/relationships/notesSlide" Target="/ppt/notesSlides/notesSlide4.xml" Id="Ra030cf4e954147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28ff307156478a" /><Relationship Type="http://schemas.openxmlformats.org/officeDocument/2006/relationships/notesSlide" Target="/ppt/notesSlides/notesSlide5.xml" Id="R5f75e6115dbb42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9ad4d879c44ee3" /><Relationship Type="http://schemas.openxmlformats.org/officeDocument/2006/relationships/notesSlide" Target="/ppt/notesSlides/notesSlide6.xml" Id="R817eb869fc8a47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beeaa75a3c4573" /><Relationship Type="http://schemas.openxmlformats.org/officeDocument/2006/relationships/notesSlide" Target="/ppt/notesSlides/notesSlide7.xml" Id="R1d46536bbc7c4c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357efcc243418d" /><Relationship Type="http://schemas.openxmlformats.org/officeDocument/2006/relationships/chart" Target="/ppt/slides/charts/chart1.xml" Id="R210e5fefa2544438" /><Relationship Type="http://schemas.openxmlformats.org/officeDocument/2006/relationships/notesSlide" Target="/ppt/notesSlides/notesSlide8.xml" Id="R740b4c90677242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e4f8db13a3400a" /><Relationship Type="http://schemas.openxmlformats.org/officeDocument/2006/relationships/notesSlide" Target="/ppt/notesSlides/notesSlide9.xml" Id="Rca3dc169668a4b8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現在出售 A</c:v>
          </c:tx>
          <c:spPr>
            <a:solidFill xmlns:a="http://schemas.openxmlformats.org/drawingml/2006/main">
              <a:srgbClr val="1A1A1A"/>
            </a:solidFill>
          </c:spPr>
          <c:invertIfNegative val="0"/>
          <c:cat>
            <c:strLit>
              <c:ptCount val="3"/>
              <c:pt idx="0">
                <c:v>房價年變動 0%</c:v>
              </c:pt>
              <c:pt idx="1">
                <c:v>房價年變動 2%</c:v>
              </c:pt>
              <c:pt idx="2">
                <c:v>房價年變動 4%</c:v>
              </c:pt>
            </c:strLit>
          </c:cat>
          <c:val>
            <c:numLit>
              <c:formatCode>#,##0.0</c:formatCode>
              <c:ptCount val="3"/>
              <c:pt idx="0">
                <c:v>2246.7</c:v>
              </c:pt>
              <c:pt idx="1">
                <c:v>2246.7</c:v>
              </c:pt>
              <c:pt idx="2">
                <c:v>2246.7</c:v>
              </c:pt>
            </c:numLit>
          </c:val>
        </c:ser>
        <c:ser>
          <c:idx val="1"/>
          <c:order val="1"/>
          <c:tx>
            <c:v>持有出租 B</c:v>
          </c:tx>
          <c:spPr>
            <a:solidFill xmlns:a="http://schemas.openxmlformats.org/drawingml/2006/main">
              <a:srgbClr val="A42336"/>
            </a:solidFill>
          </c:spPr>
          <c:invertIfNegative val="0"/>
          <c:cat>
            <c:strLit>
              <c:ptCount val="3"/>
              <c:pt idx="0">
                <c:v>房價年變動 0%</c:v>
              </c:pt>
              <c:pt idx="1">
                <c:v>房價年變動 2%</c:v>
              </c:pt>
              <c:pt idx="2">
                <c:v>房價年變動 4%</c:v>
              </c:pt>
            </c:strLit>
          </c:cat>
          <c:val>
            <c:numLit>
              <c:formatCode>#,##0.0</c:formatCode>
              <c:ptCount val="3"/>
              <c:pt idx="0">
                <c:v>1867.9</c:v>
              </c:pt>
              <c:pt idx="1">
                <c:v>2243.9</c:v>
              </c:pt>
              <c:pt idx="2">
                <c:v>2692.4</c:v>
              </c:pt>
            </c:numLit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A1A1A"/>
                  </a:solidFill>
                  <a:latin typeface="Garamond"/>
                  <a:ea typeface="Garamond"/>
                  <a:cs typeface="Garamon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1C7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D1C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7B72"/>
                </a:solidFill>
                <a:latin typeface="Garamond"/>
                <a:ea typeface="Garamond"/>
                <a:cs typeface="Garamond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4B4742"/>
              </a:solidFill>
              <a:latin typeface="Garamond"/>
              <a:ea typeface="Garamond"/>
              <a:cs typeface="Garamond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over-brand">
            <a:extLst xmlns:a="http://schemas.openxmlformats.org/drawingml/2006/main">
              <a:ext uri="{FF2B5EF4-FFF2-40B4-BE49-F238E27FC236}">
                <a16:creationId xmlns:a16="http://schemas.microsoft.com/office/drawing/2014/main" id="{9117A477-354F-4A2C-A823-F4C5980A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房產決策研究　／　15 分鐘簡報</a:t>
            </a:r>
          </a:p>
        </p:txBody>
      </p:sp>
      <p:sp>
        <p:nvSpPr>
          <p:cNvPr id="2" name="cover-edition">
            <a:extLst xmlns:a="http://schemas.openxmlformats.org/drawingml/2006/main">
              <a:ext uri="{FF2B5EF4-FFF2-40B4-BE49-F238E27FC236}">
                <a16:creationId xmlns:a16="http://schemas.microsoft.com/office/drawing/2014/main" id="{2945EE3D-3E21-4D67-B355-DEBDFCE6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RENT OR SELL · 10 YEARS</a:t>
            </a:r>
          </a:p>
        </p:txBody>
      </p:sp>
      <p:sp>
        <p:nvSpPr>
          <p:cNvPr id="3" name="cover-top-rule">
            <a:extLst xmlns:a="http://schemas.openxmlformats.org/drawingml/2006/main">
              <a:ext uri="{FF2B5EF4-FFF2-40B4-BE49-F238E27FC236}">
                <a16:creationId xmlns:a16="http://schemas.microsoft.com/office/drawing/2014/main" id="{14F405FD-1D3C-4E27-8210-5BE34F31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9FC16EB-BFA7-4C4D-B08F-2AA08358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同一間房　／　兩種資產路徑</a:t>
            </a:r>
          </a:p>
        </p:txBody>
      </p:sp>
      <p:sp>
        <p:nvSpPr>
          <p:cNvPr id="5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66CDA764-437B-4630-BC89-5917B926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defPPr>
            <a:lvl1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  <a:lvl2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2pPr>
            <a:lvl3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3pPr>
            <a:lvl4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4pPr>
            <a:lvl5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5pPr>
            <a:lvl6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6pPr>
            <a:lvl7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7pPr>
            <a:lvl8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8pPr>
            <a:lvl9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9pPr>
          </a:lstStyle>
          <a:p xmlns:a="http://schemas.openxmlformats.org/drawingml/2006/main">
            <a: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pPr>
            <a:r>
              <a: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rPr>
              <a:t>賣掉，</a:t>
            </a:r>
          </a:p>
        </p:txBody>
      </p:sp>
      <p:sp>
        <p:nvSpPr>
          <p:cNvPr id="6" name="cover-title-line2-red">
            <a:extLst xmlns:a="http://schemas.openxmlformats.org/drawingml/2006/main">
              <a:ext uri="{FF2B5EF4-FFF2-40B4-BE49-F238E27FC236}">
                <a16:creationId xmlns:a16="http://schemas.microsoft.com/office/drawing/2014/main" id="{D0EE0615-7C98-44D6-8E61-66A1E3E1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defPPr>
            <a:lvl1pPr algn="l">
              <a:defRPr sz="4800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lvl1pPr>
            <a:lvl2pPr algn="l">
              <a:defRPr sz="4800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lvl2pPr>
            <a:lvl3pPr algn="l">
              <a:defRPr sz="4800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lvl3pPr>
            <a:lvl4pPr algn="l">
              <a:defRPr sz="4800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lvl4pPr>
            <a:lvl5pPr algn="l">
              <a:defRPr sz="4800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lvl5pPr>
            <a:lvl6pPr algn="l">
              <a:defRPr sz="4800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lvl6pPr>
            <a:lvl7pPr algn="l">
              <a:defRPr sz="4800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lvl7pPr>
            <a:lvl8pPr algn="l">
              <a:defRPr sz="4800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lvl8pPr>
            <a:lvl9pPr algn="l">
              <a:defRPr sz="4800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lvl9pPr>
          </a:lstStyle>
          <a:p xmlns:a="http://schemas.openxmlformats.org/drawingml/2006/main">
            <a:pPr algn="l">
              <a:defRPr sz="4800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pPr>
            <a:r>
              <a:rPr sz="4800" b="0" i="0">
                <a:solidFill>
                  <a:srgbClr val="A42336"/>
                </a:solidFill>
                <a:latin typeface="Garamond"/>
                <a:ea typeface="Garamond"/>
                <a:cs typeface="Garamond"/>
              </a:rPr>
              <a:t>還是</a:t>
            </a:r>
          </a:p>
        </p:txBody>
      </p:sp>
      <p:sp>
        <p:nvSpPr>
          <p:cNvPr id="7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9DE76297-57C5-4DC8-8158-A1E2D85D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05075"/>
            <a:ext cx="4714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defPPr>
            <a:lvl1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  <a:lvl2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2pPr>
            <a:lvl3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3pPr>
            <a:lvl4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4pPr>
            <a:lvl5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5pPr>
            <a:lvl6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6pPr>
            <a:lvl7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7pPr>
            <a:lvl8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8pPr>
            <a:lvl9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9pPr>
          </a:lstStyle>
          <a:p xmlns:a="http://schemas.openxmlformats.org/drawingml/2006/main">
            <a:pPr algn="l">
              <a:def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pPr>
            <a:r>
              <a:rPr sz="4800" b="0" i="0">
                <a:solidFill>
                  <a:srgbClr val="1A1A1A"/>
                </a:solidFill>
                <a:latin typeface="Garamond"/>
                <a:ea typeface="Garamond"/>
                <a:cs typeface="Garamond"/>
              </a:rPr>
              <a:t>出租？</a:t>
            </a:r>
          </a:p>
        </p:txBody>
      </p:sp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0F3C850-7767-4264-A9AE-B28FD645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23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32785B3-39C8-4DB3-9AFF-30A4C078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14775"/>
            <a:ext cx="5391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defPPr>
            <a:lvl1pPr algn="l">
              <a:defRPr sz="2100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lvl1pPr>
            <a:lvl2pPr algn="l">
              <a:defRPr sz="2100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lvl2pPr>
            <a:lvl3pPr algn="l">
              <a:defRPr sz="2100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lvl3pPr>
            <a:lvl4pPr algn="l">
              <a:defRPr sz="2100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lvl4pPr>
            <a:lvl5pPr algn="l">
              <a:defRPr sz="2100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lvl5pPr>
            <a:lvl6pPr algn="l">
              <a:defRPr sz="2100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lvl6pPr>
            <a:lvl7pPr algn="l">
              <a:defRPr sz="2100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lvl7pPr>
            <a:lvl8pPr algn="l">
              <a:defRPr sz="2100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lvl8pPr>
            <a:lvl9pPr algn="l">
              <a:defRPr sz="2100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lvl9pPr>
          </a:lstStyle>
          <a:p xmlns:a="http://schemas.openxmlformats.org/drawingml/2006/main">
            <a:pPr algn="l">
              <a:defRPr sz="2100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pPr>
            <a:r>
              <a:rPr sz="2100" b="0" i="0">
                <a:solidFill>
                  <a:srgbClr val="4B4742"/>
                </a:solidFill>
                <a:latin typeface="Garamond"/>
                <a:ea typeface="Garamond"/>
                <a:cs typeface="Garamond"/>
              </a:rPr>
              <a:t>用租金與房價模型，</a:t>
            </a:r>
          </a:p>
          <a:p xmlns:a="http://schemas.openxmlformats.org/drawingml/2006/main">
            <a:pPr algn="l">
              <a:defRPr sz="2100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pPr>
            <a:r>
              <a:rPr sz="2100" b="0" i="0">
                <a:solidFill>
                  <a:srgbClr val="4B4742"/>
                </a:solidFill>
                <a:latin typeface="Garamond"/>
                <a:ea typeface="Garamond"/>
                <a:cs typeface="Garamond"/>
              </a:rPr>
              <a:t>比較十年後的總資產。</a:t>
            </a:r>
          </a:p>
        </p:txBody>
      </p:sp>
      <p:sp>
        <p:nvSpPr>
          <p:cNvPr id="10" name="cover-note">
            <a:extLst xmlns:a="http://schemas.openxmlformats.org/drawingml/2006/main">
              <a:ext uri="{FF2B5EF4-FFF2-40B4-BE49-F238E27FC236}">
                <a16:creationId xmlns:a16="http://schemas.microsoft.com/office/drawing/2014/main" id="{0A659805-74EE-456A-A33A-34BA45F4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827B72"/>
                </a:solidFill>
                <a:latin typeface="Garamond"/>
                <a:ea typeface="Garamond"/>
                <a:cs typeface="Garamond"/>
              </a:defRPr>
            </a:defPPr>
            <a:lvl1pPr algn="l">
              <a:defRPr sz="1350" b="0" i="0">
                <a:solidFill>
                  <a:srgbClr val="827B72"/>
                </a:solidFill>
                <a:latin typeface="Garamond"/>
                <a:ea typeface="Garamond"/>
                <a:cs typeface="Garamond"/>
              </a:defRPr>
            </a:lvl1pPr>
            <a:lvl2pPr algn="l">
              <a:defRPr sz="1350" b="0" i="0">
                <a:solidFill>
                  <a:srgbClr val="827B72"/>
                </a:solidFill>
                <a:latin typeface="Garamond"/>
                <a:ea typeface="Garamond"/>
                <a:cs typeface="Garamond"/>
              </a:defRPr>
            </a:lvl2pPr>
            <a:lvl3pPr algn="l">
              <a:defRPr sz="1350" b="0" i="0">
                <a:solidFill>
                  <a:srgbClr val="827B72"/>
                </a:solidFill>
                <a:latin typeface="Garamond"/>
                <a:ea typeface="Garamond"/>
                <a:cs typeface="Garamond"/>
              </a:defRPr>
            </a:lvl3pPr>
            <a:lvl4pPr algn="l">
              <a:defRPr sz="1350" b="0" i="0">
                <a:solidFill>
                  <a:srgbClr val="827B72"/>
                </a:solidFill>
                <a:latin typeface="Garamond"/>
                <a:ea typeface="Garamond"/>
                <a:cs typeface="Garamond"/>
              </a:defRPr>
            </a:lvl4pPr>
            <a:lvl5pPr algn="l">
              <a:defRPr sz="1350" b="0" i="0">
                <a:solidFill>
                  <a:srgbClr val="827B72"/>
                </a:solidFill>
                <a:latin typeface="Garamond"/>
                <a:ea typeface="Garamond"/>
                <a:cs typeface="Garamond"/>
              </a:defRPr>
            </a:lvl5pPr>
            <a:lvl6pPr algn="l">
              <a:defRPr sz="1350" b="0" i="0">
                <a:solidFill>
                  <a:srgbClr val="827B72"/>
                </a:solidFill>
                <a:latin typeface="Garamond"/>
                <a:ea typeface="Garamond"/>
                <a:cs typeface="Garamond"/>
              </a:defRPr>
            </a:lvl6pPr>
            <a:lvl7pPr algn="l">
              <a:defRPr sz="1350" b="0" i="0">
                <a:solidFill>
                  <a:srgbClr val="827B72"/>
                </a:solidFill>
                <a:latin typeface="Garamond"/>
                <a:ea typeface="Garamond"/>
                <a:cs typeface="Garamond"/>
              </a:defRPr>
            </a:lvl7pPr>
            <a:lvl8pPr algn="l">
              <a:defRPr sz="1350" b="0" i="0">
                <a:solidFill>
                  <a:srgbClr val="827B72"/>
                </a:solidFill>
                <a:latin typeface="Garamond"/>
                <a:ea typeface="Garamond"/>
                <a:cs typeface="Garamond"/>
              </a:defRPr>
            </a:lvl8pPr>
            <a:lvl9pPr algn="l">
              <a:defRPr sz="1350" b="0" i="0">
                <a:solidFill>
                  <a:srgbClr val="827B72"/>
                </a:solidFill>
                <a:latin typeface="Garamond"/>
                <a:ea typeface="Garamond"/>
                <a:cs typeface="Garamond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827B72"/>
                </a:solidFill>
                <a:latin typeface="Garamond"/>
                <a:ea typeface="Garamond"/>
                <a:cs typeface="Garamond"/>
              </a:defRPr>
            </a:pPr>
            <a:r>
              <a:rPr sz="1350" b="0" i="0">
                <a:solidFill>
                  <a:srgbClr val="827B72"/>
                </a:solidFill>
                <a:latin typeface="Garamond"/>
                <a:ea typeface="Garamond"/>
                <a:cs typeface="Garamond"/>
              </a:rPr>
              <a:t>先估計今天，再把兩種現金流放到同一個終點。</a:t>
            </a:r>
          </a:p>
        </p:txBody>
      </p:sp>
      <p:sp>
        <p:nvSpPr>
          <p:cNvPr id="11" name="cover-paths-kicker">
            <a:extLst xmlns:a="http://schemas.openxmlformats.org/drawingml/2006/main">
              <a:ext uri="{FF2B5EF4-FFF2-40B4-BE49-F238E27FC236}">
                <a16:creationId xmlns:a16="http://schemas.microsoft.com/office/drawing/2014/main" id="{5F9E7033-AA6A-40A9-84B4-004C9553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2192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THE SAME HOME · TWO PATHS</a:t>
            </a:r>
          </a:p>
        </p:txBody>
      </p:sp>
      <p:sp>
        <p:nvSpPr>
          <p:cNvPr id="12" name="cover-ten">
            <a:extLst xmlns:a="http://schemas.openxmlformats.org/drawingml/2006/main">
              <a:ext uri="{FF2B5EF4-FFF2-40B4-BE49-F238E27FC236}">
                <a16:creationId xmlns:a16="http://schemas.microsoft.com/office/drawing/2014/main" id="{F34FEDEA-8F68-4254-BCE2-CAB1C0E3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32861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23"/>
          </a:bodyPr>
          <a:lstStyle xmlns:a="http://schemas.openxmlformats.org/drawingml/2006/main">
            <a:defPPr algn="l">
              <a:defRPr sz="13050" b="0" i="0">
                <a:solidFill>
                  <a:srgbClr val="D9CFC3"/>
                </a:solidFill>
                <a:latin typeface="Garamond"/>
                <a:ea typeface="Garamond"/>
                <a:cs typeface="Garamond"/>
              </a:defRPr>
            </a:defPPr>
            <a:lvl1pPr algn="l">
              <a:defRPr sz="13050" b="0" i="0">
                <a:solidFill>
                  <a:srgbClr val="D9CFC3"/>
                </a:solidFill>
                <a:latin typeface="Garamond"/>
                <a:ea typeface="Garamond"/>
                <a:cs typeface="Garamond"/>
              </a:defRPr>
            </a:lvl1pPr>
            <a:lvl2pPr algn="l">
              <a:defRPr sz="13050" b="0" i="0">
                <a:solidFill>
                  <a:srgbClr val="D9CFC3"/>
                </a:solidFill>
                <a:latin typeface="Garamond"/>
                <a:ea typeface="Garamond"/>
                <a:cs typeface="Garamond"/>
              </a:defRPr>
            </a:lvl2pPr>
            <a:lvl3pPr algn="l">
              <a:defRPr sz="13050" b="0" i="0">
                <a:solidFill>
                  <a:srgbClr val="D9CFC3"/>
                </a:solidFill>
                <a:latin typeface="Garamond"/>
                <a:ea typeface="Garamond"/>
                <a:cs typeface="Garamond"/>
              </a:defRPr>
            </a:lvl3pPr>
            <a:lvl4pPr algn="l">
              <a:defRPr sz="13050" b="0" i="0">
                <a:solidFill>
                  <a:srgbClr val="D9CFC3"/>
                </a:solidFill>
                <a:latin typeface="Garamond"/>
                <a:ea typeface="Garamond"/>
                <a:cs typeface="Garamond"/>
              </a:defRPr>
            </a:lvl4pPr>
            <a:lvl5pPr algn="l">
              <a:defRPr sz="13050" b="0" i="0">
                <a:solidFill>
                  <a:srgbClr val="D9CFC3"/>
                </a:solidFill>
                <a:latin typeface="Garamond"/>
                <a:ea typeface="Garamond"/>
                <a:cs typeface="Garamond"/>
              </a:defRPr>
            </a:lvl5pPr>
            <a:lvl6pPr algn="l">
              <a:defRPr sz="13050" b="0" i="0">
                <a:solidFill>
                  <a:srgbClr val="D9CFC3"/>
                </a:solidFill>
                <a:latin typeface="Garamond"/>
                <a:ea typeface="Garamond"/>
                <a:cs typeface="Garamond"/>
              </a:defRPr>
            </a:lvl6pPr>
            <a:lvl7pPr algn="l">
              <a:defRPr sz="13050" b="0" i="0">
                <a:solidFill>
                  <a:srgbClr val="D9CFC3"/>
                </a:solidFill>
                <a:latin typeface="Garamond"/>
                <a:ea typeface="Garamond"/>
                <a:cs typeface="Garamond"/>
              </a:defRPr>
            </a:lvl7pPr>
            <a:lvl8pPr algn="l">
              <a:defRPr sz="13050" b="0" i="0">
                <a:solidFill>
                  <a:srgbClr val="D9CFC3"/>
                </a:solidFill>
                <a:latin typeface="Garamond"/>
                <a:ea typeface="Garamond"/>
                <a:cs typeface="Garamond"/>
              </a:defRPr>
            </a:lvl8pPr>
            <a:lvl9pPr algn="l">
              <a:defRPr sz="13050" b="0" i="0">
                <a:solidFill>
                  <a:srgbClr val="D9CFC3"/>
                </a:solidFill>
                <a:latin typeface="Garamond"/>
                <a:ea typeface="Garamond"/>
                <a:cs typeface="Garamond"/>
              </a:defRPr>
            </a:lvl9pPr>
          </a:lstStyle>
          <a:p xmlns:a="http://schemas.openxmlformats.org/drawingml/2006/main">
            <a:pPr algn="l">
              <a:defRPr sz="13050" b="0" i="0">
                <a:solidFill>
                  <a:srgbClr val="D9CFC3"/>
                </a:solidFill>
                <a:latin typeface="Garamond"/>
                <a:ea typeface="Garamond"/>
                <a:cs typeface="Garamond"/>
              </a:defRPr>
            </a:pPr>
            <a:r>
              <a:rPr sz="13050" b="0" i="0">
                <a:solidFill>
                  <a:srgbClr val="D9CFC3"/>
                </a:solidFill>
                <a:latin typeface="Garamond"/>
                <a:ea typeface="Garamond"/>
                <a:cs typeface="Garamond"/>
              </a:rPr>
              <a:t>10</a:t>
            </a:r>
          </a:p>
        </p:txBody>
      </p:sp>
      <p:sp>
        <p:nvSpPr>
          <p:cNvPr id="13" name="cover-years">
            <a:extLst xmlns:a="http://schemas.openxmlformats.org/drawingml/2006/main">
              <a:ext uri="{FF2B5EF4-FFF2-40B4-BE49-F238E27FC236}">
                <a16:creationId xmlns:a16="http://schemas.microsoft.com/office/drawing/2014/main" id="{88DD08C2-6C95-4731-B15D-E6CAC6C9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5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5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5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5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5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5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5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5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5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5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年後比較</a:t>
            </a:r>
          </a:p>
        </p:txBody>
      </p:sp>
      <p:sp>
        <p:nvSpPr>
          <p:cNvPr id="14" name="cover-path-rule-a">
            <a:extLst xmlns:a="http://schemas.openxmlformats.org/drawingml/2006/main">
              <a:ext uri="{FF2B5EF4-FFF2-40B4-BE49-F238E27FC236}">
                <a16:creationId xmlns:a16="http://schemas.microsoft.com/office/drawing/2014/main" id="{2208DA93-130F-4D2F-91CE-6654A75C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57625"/>
            <a:ext cx="427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ver-path-a-label">
            <a:extLst xmlns:a="http://schemas.openxmlformats.org/drawingml/2006/main">
              <a:ext uri="{FF2B5EF4-FFF2-40B4-BE49-F238E27FC236}">
                <a16:creationId xmlns:a16="http://schemas.microsoft.com/office/drawing/2014/main" id="{2E4854C9-EC64-46E6-9838-85BB3A94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147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5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5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5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5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5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5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5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5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5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5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A　現在出售</a:t>
            </a:r>
          </a:p>
        </p:txBody>
      </p:sp>
      <p:sp>
        <p:nvSpPr>
          <p:cNvPr id="16" name="cover-path-a-detail">
            <a:extLst xmlns:a="http://schemas.openxmlformats.org/drawingml/2006/main">
              <a:ext uri="{FF2B5EF4-FFF2-40B4-BE49-F238E27FC236}">
                <a16:creationId xmlns:a16="http://schemas.microsoft.com/office/drawing/2014/main" id="{F6BCE3E3-0E91-41A8-B5D0-1C1C69AA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0025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出售淨額　×　投資複利</a:t>
            </a:r>
          </a:p>
        </p:txBody>
      </p:sp>
      <p:sp>
        <p:nvSpPr>
          <p:cNvPr id="17" name="cover-path-rule-b">
            <a:extLst xmlns:a="http://schemas.openxmlformats.org/drawingml/2006/main">
              <a:ext uri="{FF2B5EF4-FFF2-40B4-BE49-F238E27FC236}">
                <a16:creationId xmlns:a16="http://schemas.microsoft.com/office/drawing/2014/main" id="{FC7BC3F7-73C0-4F0D-82AB-99A020A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57750"/>
            <a:ext cx="427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23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ver-path-b-label">
            <a:extLst xmlns:a="http://schemas.openxmlformats.org/drawingml/2006/main">
              <a:ext uri="{FF2B5EF4-FFF2-40B4-BE49-F238E27FC236}">
                <a16:creationId xmlns:a16="http://schemas.microsoft.com/office/drawing/2014/main" id="{6803DCB2-FCE7-45E5-B820-1E4DD7F8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14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5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5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5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5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5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5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5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5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5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pPr>
            <a:r>
              <a:rPr sz="15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rPr>
              <a:t>B　持有出租</a:t>
            </a:r>
          </a:p>
        </p:txBody>
      </p:sp>
      <p:sp>
        <p:nvSpPr>
          <p:cNvPr id="19" name="cover-path-b-detail">
            <a:extLst xmlns:a="http://schemas.openxmlformats.org/drawingml/2006/main">
              <a:ext uri="{FF2B5EF4-FFF2-40B4-BE49-F238E27FC236}">
                <a16:creationId xmlns:a16="http://schemas.microsoft.com/office/drawing/2014/main" id="{D7DEAC8C-2740-4351-AE1D-E2BC41D2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101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4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淨租金累積　+　期末售屋款</a:t>
            </a:r>
          </a:p>
        </p:txBody>
      </p:sp>
      <p:sp>
        <p:nvSpPr>
          <p:cNvPr id="20" name="cover-years-span">
            <a:extLst xmlns:a="http://schemas.openxmlformats.org/drawingml/2006/main">
              <a:ext uri="{FF2B5EF4-FFF2-40B4-BE49-F238E27FC236}">
                <a16:creationId xmlns:a16="http://schemas.microsoft.com/office/drawing/2014/main" id="{AA0B78EE-B039-4133-A1F0-0BFED1F9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81025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2026　今天　　　　　　　　　2036　第 N 年</a:t>
            </a:r>
          </a:p>
        </p:txBody>
      </p:sp>
      <p:sp>
        <p:nvSpPr>
          <p:cNvPr id="21" name="cover-footer-rule">
            <a:extLst xmlns:a="http://schemas.openxmlformats.org/drawingml/2006/main">
              <a:ext uri="{FF2B5EF4-FFF2-40B4-BE49-F238E27FC236}">
                <a16:creationId xmlns:a16="http://schemas.microsoft.com/office/drawing/2014/main" id="{9094F9A9-32C0-41D9-A9FC-352F7ECF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4782EDB8-5B13-4C9E-8A71-A96CB786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1089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專題焦點：租金與售價估計後的決策比較</a:t>
            </a:r>
          </a:p>
        </p:txBody>
      </p:sp>
    </p:spTree>
    <p:extLst>
      <p:ext uri="{BB962C8B-B14F-4D97-AF65-F5344CB8AC3E}">
        <p14:creationId xmlns:p14="http://schemas.microsoft.com/office/powerpoint/2010/main" val="65999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2">
            <a:extLst xmlns:a="http://schemas.openxmlformats.org/drawingml/2006/main">
              <a:ext uri="{FF2B5EF4-FFF2-40B4-BE49-F238E27FC236}">
                <a16:creationId xmlns:a16="http://schemas.microsoft.com/office/drawing/2014/main" id="{CEAB53B3-1F0F-440A-8D50-A8F1BDB3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01　問題定義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C1F8D88F-CE4A-43DD-BA57-589AE43F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48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02  /  09   ·   01:00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3A042C63-7116-4029-A96F-C59CB6D5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8030D423-813C-480C-9CDF-CE604334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-2">
            <a:extLst xmlns:a="http://schemas.openxmlformats.org/drawingml/2006/main">
              <a:ext uri="{FF2B5EF4-FFF2-40B4-BE49-F238E27FC236}">
                <a16:creationId xmlns:a16="http://schemas.microsoft.com/office/drawing/2014/main" id="{10C24457-4B3F-4264-9591-707CC181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同一間房，賣掉還是出租？</a:t>
            </a:r>
          </a:p>
        </p:txBody>
      </p:sp>
      <p:sp>
        <p:nvSpPr>
          <p:cNvPr id="6" name="footer-time-2">
            <a:extLst xmlns:a="http://schemas.openxmlformats.org/drawingml/2006/main">
              <a:ext uri="{FF2B5EF4-FFF2-40B4-BE49-F238E27FC236}">
                <a16:creationId xmlns:a16="http://schemas.microsoft.com/office/drawing/2014/main" id="{22F05890-A99F-4BF7-BB8D-C1FBE07E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43675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15 分鐘專題報告</a:t>
            </a:r>
          </a:p>
        </p:txBody>
      </p:sp>
      <p:sp>
        <p:nvSpPr>
          <p:cNvPr id="7" name="s2-kicker">
            <a:extLst xmlns:a="http://schemas.openxmlformats.org/drawingml/2006/main">
              <a:ext uri="{FF2B5EF4-FFF2-40B4-BE49-F238E27FC236}">
                <a16:creationId xmlns:a16="http://schemas.microsoft.com/office/drawing/2014/main" id="{DD2BC4D8-0B83-4981-93E8-7D7B2924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比較基準</a:t>
            </a:r>
          </a:p>
        </p:txBody>
      </p:sp>
      <p:sp>
        <p:nvSpPr>
          <p:cNvPr id="8" name="s2-title">
            <a:extLst xmlns:a="http://schemas.openxmlformats.org/drawingml/2006/main">
              <a:ext uri="{FF2B5EF4-FFF2-40B4-BE49-F238E27FC236}">
                <a16:creationId xmlns:a16="http://schemas.microsoft.com/office/drawing/2014/main" id="{ECDD69C2-B65B-4233-9748-89F5AEB9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00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defPPr>
            <a:lvl1pPr algn="l">
              <a:defRPr sz="33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  <a:lvl2pPr algn="l">
              <a:defRPr sz="33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2pPr>
            <a:lvl3pPr algn="l">
              <a:defRPr sz="33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3pPr>
            <a:lvl4pPr algn="l">
              <a:defRPr sz="33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4pPr>
            <a:lvl5pPr algn="l">
              <a:defRPr sz="33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5pPr>
            <a:lvl6pPr algn="l">
              <a:defRPr sz="33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6pPr>
            <a:lvl7pPr algn="l">
              <a:defRPr sz="33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7pPr>
            <a:lvl8pPr algn="l">
              <a:defRPr sz="33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8pPr>
            <a:lvl9pPr algn="l">
              <a:defRPr sz="33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9pPr>
          </a:lstStyle>
          <a:p xmlns:a="http://schemas.openxmlformats.org/drawingml/2006/main">
            <a:pPr algn="l">
              <a:defRPr sz="33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pPr>
            <a:r>
              <a:rPr sz="3300" b="0" i="0">
                <a:solidFill>
                  <a:srgbClr val="1A1A1A"/>
                </a:solidFill>
                <a:latin typeface="Garamond"/>
                <a:ea typeface="Garamond"/>
                <a:cs typeface="Garamond"/>
              </a:rPr>
              <a:t>賣價與月租，不能直接相比</a:t>
            </a:r>
          </a:p>
        </p:txBody>
      </p:sp>
      <p:sp>
        <p:nvSpPr>
          <p:cNvPr id="9" name="s2-lede">
            <a:extLst xmlns:a="http://schemas.openxmlformats.org/drawingml/2006/main">
              <a:ext uri="{FF2B5EF4-FFF2-40B4-BE49-F238E27FC236}">
                <a16:creationId xmlns:a16="http://schemas.microsoft.com/office/drawing/2014/main" id="{00F22076-DADD-44C2-87A4-5B72FAF2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defPPr>
            <a:lvl1pPr algn="l">
              <a:defRPr sz="1575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lvl1pPr>
            <a:lvl2pPr algn="l">
              <a:defRPr sz="1575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lvl2pPr>
            <a:lvl3pPr algn="l">
              <a:defRPr sz="1575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lvl3pPr>
            <a:lvl4pPr algn="l">
              <a:defRPr sz="1575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lvl4pPr>
            <a:lvl5pPr algn="l">
              <a:defRPr sz="1575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lvl5pPr>
            <a:lvl6pPr algn="l">
              <a:defRPr sz="1575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lvl6pPr>
            <a:lvl7pPr algn="l">
              <a:defRPr sz="1575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lvl7pPr>
            <a:lvl8pPr algn="l">
              <a:defRPr sz="1575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lvl8pPr>
            <a:lvl9pPr algn="l">
              <a:defRPr sz="1575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4B4742"/>
                </a:solidFill>
                <a:latin typeface="Garamond"/>
                <a:ea typeface="Garamond"/>
                <a:cs typeface="Garamond"/>
              </a:defRPr>
            </a:pPr>
            <a:r>
              <a:rPr sz="1575" b="0" i="0">
                <a:solidFill>
                  <a:srgbClr val="4B4742"/>
                </a:solidFill>
                <a:latin typeface="Garamond"/>
                <a:ea typeface="Garamond"/>
                <a:cs typeface="Garamond"/>
              </a:rPr>
              <a:t>出售是一筆資產回收；出租是多年收入，也伴隨空置與持有成本。</a:t>
            </a:r>
          </a:p>
        </p:txBody>
      </p:sp>
      <p:sp>
        <p:nvSpPr>
          <p:cNvPr id="10" name="s2-left-rule">
            <a:extLst xmlns:a="http://schemas.openxmlformats.org/drawingml/2006/main">
              <a:ext uri="{FF2B5EF4-FFF2-40B4-BE49-F238E27FC236}">
                <a16:creationId xmlns:a16="http://schemas.microsoft.com/office/drawing/2014/main" id="{0AB2F01F-464B-48FB-8DEB-5B969A1F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466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2-right-rule">
            <a:extLst xmlns:a="http://schemas.openxmlformats.org/drawingml/2006/main">
              <a:ext uri="{FF2B5EF4-FFF2-40B4-BE49-F238E27FC236}">
                <a16:creationId xmlns:a16="http://schemas.microsoft.com/office/drawing/2014/main" id="{CCCEE62B-2BF5-4628-A972-E98E7D63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05175"/>
            <a:ext cx="466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23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2-sell-tag">
            <a:extLst xmlns:a="http://schemas.openxmlformats.org/drawingml/2006/main">
              <a:ext uri="{FF2B5EF4-FFF2-40B4-BE49-F238E27FC236}">
                <a16:creationId xmlns:a16="http://schemas.microsoft.com/office/drawing/2014/main" id="{56F4AFF6-1A8C-40B6-B61A-784E9EE8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OPTION A　／　現在出售</a:t>
            </a:r>
          </a:p>
        </p:txBody>
      </p:sp>
      <p:sp>
        <p:nvSpPr>
          <p:cNvPr id="13" name="s2-sell-title">
            <a:extLst xmlns:a="http://schemas.openxmlformats.org/drawingml/2006/main">
              <a:ext uri="{FF2B5EF4-FFF2-40B4-BE49-F238E27FC236}">
                <a16:creationId xmlns:a16="http://schemas.microsoft.com/office/drawing/2014/main" id="{A572E8D7-9783-411E-9B39-2D7F44DF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766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24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24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24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24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24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24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24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24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24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24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24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出售淨額</a:t>
            </a:r>
          </a:p>
        </p:txBody>
      </p:sp>
      <p:sp>
        <p:nvSpPr>
          <p:cNvPr id="14" name="s2-sell-copy">
            <a:extLst xmlns:a="http://schemas.openxmlformats.org/drawingml/2006/main">
              <a:ext uri="{FF2B5EF4-FFF2-40B4-BE49-F238E27FC236}">
                <a16:creationId xmlns:a16="http://schemas.microsoft.com/office/drawing/2014/main" id="{A9E9FF68-4369-4DE1-9910-723AD617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0075"/>
            <a:ext cx="4362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扣除貸款、稅費與交易成本，</a:t>
            </a:r>
          </a:p>
          <a:p xmlns:a="http://schemas.openxmlformats.org/drawingml/2006/main">
            <a: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把可用現金投入其他投資。</a:t>
            </a:r>
          </a:p>
        </p:txBody>
      </p:sp>
      <p:sp>
        <p:nvSpPr>
          <p:cNvPr id="15" name="s2-sell-metric">
            <a:extLst xmlns:a="http://schemas.openxmlformats.org/drawingml/2006/main">
              <a:ext uri="{FF2B5EF4-FFF2-40B4-BE49-F238E27FC236}">
                <a16:creationId xmlns:a16="http://schemas.microsoft.com/office/drawing/2014/main" id="{9A3B3974-85ED-4410-A894-143F8FB1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959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pPr>
            <a:r>
              <a: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rPr>
              <a:t>一次投入　→　持續複利</a:t>
            </a:r>
          </a:p>
        </p:txBody>
      </p:sp>
      <p:sp>
        <p:nvSpPr>
          <p:cNvPr id="16" name="s2-rent-tag">
            <a:extLst xmlns:a="http://schemas.openxmlformats.org/drawingml/2006/main">
              <a:ext uri="{FF2B5EF4-FFF2-40B4-BE49-F238E27FC236}">
                <a16:creationId xmlns:a16="http://schemas.microsoft.com/office/drawing/2014/main" id="{9649D96B-8BB2-409F-8470-7BFC8890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147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OPTION B　／　持有出租</a:t>
            </a:r>
          </a:p>
        </p:txBody>
      </p:sp>
      <p:sp>
        <p:nvSpPr>
          <p:cNvPr id="17" name="s2-rent-title">
            <a:extLst xmlns:a="http://schemas.openxmlformats.org/drawingml/2006/main">
              <a:ext uri="{FF2B5EF4-FFF2-40B4-BE49-F238E27FC236}">
                <a16:creationId xmlns:a16="http://schemas.microsoft.com/office/drawing/2014/main" id="{00D3A4F9-E01C-4816-8342-CA27AFBD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7667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0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2400" b="0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2400" b="0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2400" b="0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2400" b="0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2400" b="0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2400" b="0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2400" b="0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2400" b="0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2400" b="0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2400" b="0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pPr>
            <a:r>
              <a:rPr sz="2400" b="0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rPr>
              <a:t>出租淨現金流</a:t>
            </a:r>
          </a:p>
        </p:txBody>
      </p:sp>
      <p:sp>
        <p:nvSpPr>
          <p:cNvPr id="18" name="s2-rent-copy">
            <a:extLst xmlns:a="http://schemas.openxmlformats.org/drawingml/2006/main">
              <a:ext uri="{FF2B5EF4-FFF2-40B4-BE49-F238E27FC236}">
                <a16:creationId xmlns:a16="http://schemas.microsoft.com/office/drawing/2014/main" id="{F42BE14C-19FD-4B72-A4DA-441243D5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10075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逐年扣空置、稅費、管理維修</a:t>
            </a:r>
          </a:p>
          <a:p xmlns:a="http://schemas.openxmlformats.org/drawingml/2006/main">
            <a:pPr algn="l">
              <a:def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3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與貸款支出，並保留房屋資產。</a:t>
            </a:r>
          </a:p>
        </p:txBody>
      </p:sp>
      <p:sp>
        <p:nvSpPr>
          <p:cNvPr id="19" name="s2-rent-metric">
            <a:extLst xmlns:a="http://schemas.openxmlformats.org/drawingml/2006/main">
              <a:ext uri="{FF2B5EF4-FFF2-40B4-BE49-F238E27FC236}">
                <a16:creationId xmlns:a16="http://schemas.microsoft.com/office/drawing/2014/main" id="{85A696C8-C7BA-4CD0-8FD0-95C2E19B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959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pPr>
            <a:r>
              <a:rPr sz="12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rPr>
              <a:t>逐年收租　+　期末房屋淨值</a:t>
            </a:r>
          </a:p>
        </p:txBody>
      </p:sp>
      <p:sp>
        <p:nvSpPr>
          <p:cNvPr id="20" name="s2-endpoint-band">
            <a:extLst xmlns:a="http://schemas.openxmlformats.org/drawingml/2006/main">
              <a:ext uri="{FF2B5EF4-FFF2-40B4-BE49-F238E27FC236}">
                <a16:creationId xmlns:a16="http://schemas.microsoft.com/office/drawing/2014/main" id="{7AB4E6E8-C1E7-4DC2-B957-03914824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7875"/>
            <a:ext cx="10782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2-endpoint-text">
            <a:extLst xmlns:a="http://schemas.openxmlformats.org/drawingml/2006/main">
              <a:ext uri="{FF2B5EF4-FFF2-40B4-BE49-F238E27FC236}">
                <a16:creationId xmlns:a16="http://schemas.microsoft.com/office/drawing/2014/main" id="{9F1F24AA-C3B8-4E78-A6BB-F3BB7A0D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43600"/>
            <a:ext cx="1040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defPPr>
            <a:lvl1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1pPr>
            <a:lvl2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2pPr>
            <a:lvl3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3pPr>
            <a:lvl4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4pPr>
            <a:lvl5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5pPr>
            <a:lvl6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6pPr>
            <a:lvl7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7pPr>
            <a:lvl8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8pPr>
            <a:lvl9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pPr>
            <a:r>
              <a: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rPr>
              <a:t>統一換算：第 N 年總資產　＝　出售投資複利　vs.　淨租金累積 + 期末房屋淨值</a:t>
            </a:r>
          </a:p>
        </p:txBody>
      </p:sp>
    </p:spTree>
    <p:extLst>
      <p:ext uri="{BB962C8B-B14F-4D97-AF65-F5344CB8AC3E}">
        <p14:creationId xmlns:p14="http://schemas.microsoft.com/office/powerpoint/2010/main" val="9493476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3">
            <a:extLst xmlns:a="http://schemas.openxmlformats.org/drawingml/2006/main">
              <a:ext uri="{FF2B5EF4-FFF2-40B4-BE49-F238E27FC236}">
                <a16:creationId xmlns:a16="http://schemas.microsoft.com/office/drawing/2014/main" id="{77FD8E01-89DA-4D65-AD3C-2728CA91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02　資料與爬蟲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14CA8349-72DC-4E94-8501-7273ECB6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48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03  /  09   ·   01:30</a:t>
            </a:r>
          </a:p>
        </p:txBody>
      </p:sp>
      <p:sp>
        <p:nvSpPr>
          <p:cNvPr id="3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87787E91-B164-4567-8C8C-8F4B1821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692E5075-6EA5-4D23-8B85-B3F57261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-3">
            <a:extLst xmlns:a="http://schemas.openxmlformats.org/drawingml/2006/main">
              <a:ext uri="{FF2B5EF4-FFF2-40B4-BE49-F238E27FC236}">
                <a16:creationId xmlns:a16="http://schemas.microsoft.com/office/drawing/2014/main" id="{8DB52034-1A44-410A-A788-D83DF4F3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同一間房，賣掉還是出租？</a:t>
            </a:r>
          </a:p>
        </p:txBody>
      </p:sp>
      <p:sp>
        <p:nvSpPr>
          <p:cNvPr id="6" name="footer-time-3">
            <a:extLst xmlns:a="http://schemas.openxmlformats.org/drawingml/2006/main">
              <a:ext uri="{FF2B5EF4-FFF2-40B4-BE49-F238E27FC236}">
                <a16:creationId xmlns:a16="http://schemas.microsoft.com/office/drawing/2014/main" id="{7E9BCCD4-A4F8-4C48-B0F5-64BD404B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43675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15 分鐘專題報告</a:t>
            </a:r>
          </a:p>
        </p:txBody>
      </p:sp>
      <p:sp>
        <p:nvSpPr>
          <p:cNvPr id="7" name="s3-kicker">
            <a:extLst xmlns:a="http://schemas.openxmlformats.org/drawingml/2006/main">
              <a:ext uri="{FF2B5EF4-FFF2-40B4-BE49-F238E27FC236}">
                <a16:creationId xmlns:a16="http://schemas.microsoft.com/office/drawing/2014/main" id="{E4E52706-CB0A-4923-B0FD-7A3AFCA3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新北市　／　租賃與買賣資料同一地區</a:t>
            </a:r>
          </a:p>
        </p:txBody>
      </p:sp>
      <p:sp>
        <p:nvSpPr>
          <p:cNvPr id="8" name="s3-title">
            <a:extLst xmlns:a="http://schemas.openxmlformats.org/drawingml/2006/main">
              <a:ext uri="{FF2B5EF4-FFF2-40B4-BE49-F238E27FC236}">
                <a16:creationId xmlns:a16="http://schemas.microsoft.com/office/drawing/2014/main" id="{65A554EB-14C0-4D5B-ADCC-07DA8B97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defPPr>
            <a:lvl1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  <a:lvl2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2pPr>
            <a:lvl3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3pPr>
            <a:lvl4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4pPr>
            <a:lvl5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5pPr>
            <a:lvl6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6pPr>
            <a:lvl7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7pPr>
            <a:lvl8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8pPr>
            <a:lvl9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9pPr>
          </a:lstStyle>
          <a:p xmlns:a="http://schemas.openxmlformats.org/drawingml/2006/main">
            <a: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pPr>
            <a:r>
              <a: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rPr>
              <a:t>模型用實登資料訓練，爬蟲展示 HTML 流程</a:t>
            </a:r>
          </a:p>
        </p:txBody>
      </p:sp>
      <p:sp>
        <p:nvSpPr>
          <p:cNvPr id="9" name="s3-rent-rule">
            <a:extLst xmlns:a="http://schemas.openxmlformats.org/drawingml/2006/main">
              <a:ext uri="{FF2B5EF4-FFF2-40B4-BE49-F238E27FC236}">
                <a16:creationId xmlns:a16="http://schemas.microsoft.com/office/drawing/2014/main" id="{D573E410-8F85-4D3B-A3BF-46E5AD30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23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3-sale-rule">
            <a:extLst xmlns:a="http://schemas.openxmlformats.org/drawingml/2006/main">
              <a:ext uri="{FF2B5EF4-FFF2-40B4-BE49-F238E27FC236}">
                <a16:creationId xmlns:a16="http://schemas.microsoft.com/office/drawing/2014/main" id="{C9F97B88-2175-4EF9-A9E1-F645C273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81225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3-rent-label">
            <a:extLst xmlns:a="http://schemas.openxmlformats.org/drawingml/2006/main">
              <a:ext uri="{FF2B5EF4-FFF2-40B4-BE49-F238E27FC236}">
                <a16:creationId xmlns:a16="http://schemas.microsoft.com/office/drawing/2014/main" id="{F15D7D32-E988-4713-9F4C-40F1B1F5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71725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pPr>
            <a:r>
              <a: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rPr>
              <a:t>租賃成交　／　新北市政府地政局</a:t>
            </a:r>
          </a:p>
        </p:txBody>
      </p:sp>
      <p:sp>
        <p:nvSpPr>
          <p:cNvPr id="12" name="s3-rent-count">
            <a:extLst xmlns:a="http://schemas.openxmlformats.org/drawingml/2006/main">
              <a:ext uri="{FF2B5EF4-FFF2-40B4-BE49-F238E27FC236}">
                <a16:creationId xmlns:a16="http://schemas.microsoft.com/office/drawing/2014/main" id="{5941F039-BF58-4C9C-A879-82550309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336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44,852 筆原始　→　43,937 筆可用</a:t>
            </a:r>
          </a:p>
        </p:txBody>
      </p:sp>
      <p:sp>
        <p:nvSpPr>
          <p:cNvPr id="13" name="s3-rent-fields">
            <a:extLst xmlns:a="http://schemas.openxmlformats.org/drawingml/2006/main">
              <a:ext uri="{FF2B5EF4-FFF2-40B4-BE49-F238E27FC236}">
                <a16:creationId xmlns:a16="http://schemas.microsoft.com/office/drawing/2014/main" id="{24A667F3-9379-4404-8C33-84E6CC7F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租金目標：月租 ÷ 坪數 → 元/月/坪</a:t>
            </a:r>
          </a:p>
          <a:p xmlns:a="http://schemas.openxmlformats.org/drawingml/2006/main">
            <a: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變數：行政區、屋齡、樓層、格局、房型、設備</a:t>
            </a:r>
          </a:p>
        </p:txBody>
      </p:sp>
      <p:sp>
        <p:nvSpPr>
          <p:cNvPr id="14" name="s3-sale-label">
            <a:extLst xmlns:a="http://schemas.openxmlformats.org/drawingml/2006/main">
              <a:ext uri="{FF2B5EF4-FFF2-40B4-BE49-F238E27FC236}">
                <a16:creationId xmlns:a16="http://schemas.microsoft.com/office/drawing/2014/main" id="{4161D465-EFFB-42C1-A695-A2341131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71725"/>
            <a:ext cx="471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4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4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4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4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4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4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4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4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4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4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買賣成交　／　新北市政府地政局</a:t>
            </a:r>
          </a:p>
        </p:txBody>
      </p:sp>
      <p:sp>
        <p:nvSpPr>
          <p:cNvPr id="15" name="s3-sale-count">
            <a:extLst xmlns:a="http://schemas.openxmlformats.org/drawingml/2006/main">
              <a:ext uri="{FF2B5EF4-FFF2-40B4-BE49-F238E27FC236}">
                <a16:creationId xmlns:a16="http://schemas.microsoft.com/office/drawing/2014/main" id="{7052C738-1AF2-41AC-ADEA-BE36643F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336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50,065 筆原始　→　41,682 筆可用</a:t>
            </a:r>
          </a:p>
        </p:txBody>
      </p:sp>
      <p:sp>
        <p:nvSpPr>
          <p:cNvPr id="16" name="s3-sale-fields">
            <a:extLst xmlns:a="http://schemas.openxmlformats.org/drawingml/2006/main">
              <a:ext uri="{FF2B5EF4-FFF2-40B4-BE49-F238E27FC236}">
                <a16:creationId xmlns:a16="http://schemas.microsoft.com/office/drawing/2014/main" id="{99F9E228-01AA-4331-B24B-5DAF3792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28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售價目標：單價換算 → 萬元/坪</a:t>
            </a:r>
          </a:p>
          <a:p xmlns:a="http://schemas.openxmlformats.org/drawingml/2006/main">
            <a: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變數：行政區、屋齡、樓層、格局、車位、用途</a:t>
            </a:r>
          </a:p>
        </p:txBody>
      </p:sp>
      <p:sp>
        <p:nvSpPr>
          <p:cNvPr id="17" name="s3-crawler-panel">
            <a:extLst xmlns:a="http://schemas.openxmlformats.org/drawingml/2006/main">
              <a:ext uri="{FF2B5EF4-FFF2-40B4-BE49-F238E27FC236}">
                <a16:creationId xmlns:a16="http://schemas.microsoft.com/office/drawing/2014/main" id="{72BC16EC-6BA5-4A88-9F9A-B2A0F3AE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91025"/>
            <a:ext cx="107823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3-crawler-title">
            <a:extLst xmlns:a="http://schemas.openxmlformats.org/drawingml/2006/main">
              <a:ext uri="{FF2B5EF4-FFF2-40B4-BE49-F238E27FC236}">
                <a16:creationId xmlns:a16="http://schemas.microsoft.com/office/drawing/2014/main" id="{1F585ACC-1341-4C81-B17A-CB22F12C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3667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pPr>
            <a:r>
              <a:rPr sz="14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rPr>
              <a:t>HTML 爬蟲示範　／　Python</a:t>
            </a:r>
          </a:p>
        </p:txBody>
      </p:sp>
      <p:sp>
        <p:nvSpPr>
          <p:cNvPr id="19" name="s3-crawl-step-0">
            <a:extLst xmlns:a="http://schemas.openxmlformats.org/drawingml/2006/main">
              <a:ext uri="{FF2B5EF4-FFF2-40B4-BE49-F238E27FC236}">
                <a16:creationId xmlns:a16="http://schemas.microsoft.com/office/drawing/2014/main" id="{94281DC4-F4AB-4526-AFB7-08FC3F31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requests</a:t>
            </a:r>
          </a:p>
          <a:p xmlns:a="http://schemas.openxmlformats.org/drawingml/2006/main">
            <a: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取得公開頁面</a:t>
            </a:r>
          </a:p>
        </p:txBody>
      </p:sp>
      <p:sp>
        <p:nvSpPr>
          <p:cNvPr id="20" name="s3-crawl-arrow-0">
            <a:extLst xmlns:a="http://schemas.openxmlformats.org/drawingml/2006/main">
              <a:ext uri="{FF2B5EF4-FFF2-40B4-BE49-F238E27FC236}">
                <a16:creationId xmlns:a16="http://schemas.microsoft.com/office/drawing/2014/main" id="{539D4B08-C3F0-466F-89C0-4AC6FC8C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05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s3-crawl-step-1">
            <a:extLst xmlns:a="http://schemas.openxmlformats.org/drawingml/2006/main">
              <a:ext uri="{FF2B5EF4-FFF2-40B4-BE49-F238E27FC236}">
                <a16:creationId xmlns:a16="http://schemas.microsoft.com/office/drawing/2014/main" id="{B7F18C54-CD57-4936-9A00-9D281210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911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BeautifulSoup</a:t>
            </a:r>
          </a:p>
          <a:p xmlns:a="http://schemas.openxmlformats.org/drawingml/2006/main">
            <a: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定位 HTML 欄位</a:t>
            </a:r>
          </a:p>
        </p:txBody>
      </p:sp>
      <p:sp>
        <p:nvSpPr>
          <p:cNvPr id="22" name="s3-crawl-arrow-1">
            <a:extLst xmlns:a="http://schemas.openxmlformats.org/drawingml/2006/main">
              <a:ext uri="{FF2B5EF4-FFF2-40B4-BE49-F238E27FC236}">
                <a16:creationId xmlns:a16="http://schemas.microsoft.com/office/drawing/2014/main" id="{1AA8753E-9A07-497A-B013-DD53999A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05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s3-crawl-step-2">
            <a:extLst xmlns:a="http://schemas.openxmlformats.org/drawingml/2006/main">
              <a:ext uri="{FF2B5EF4-FFF2-40B4-BE49-F238E27FC236}">
                <a16:creationId xmlns:a16="http://schemas.microsoft.com/office/drawing/2014/main" id="{042882F4-5C60-43BD-B07D-BBC14BF3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911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pandas</a:t>
            </a:r>
          </a:p>
          <a:p xmlns:a="http://schemas.openxmlformats.org/drawingml/2006/main">
            <a: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清理、轉型、去重</a:t>
            </a:r>
          </a:p>
        </p:txBody>
      </p:sp>
      <p:sp>
        <p:nvSpPr>
          <p:cNvPr id="24" name="s3-crawl-arrow-2">
            <a:extLst xmlns:a="http://schemas.openxmlformats.org/drawingml/2006/main">
              <a:ext uri="{FF2B5EF4-FFF2-40B4-BE49-F238E27FC236}">
                <a16:creationId xmlns:a16="http://schemas.microsoft.com/office/drawing/2014/main" id="{6C0F26BC-A1E2-4AE2-B18D-AA240870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05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s3-crawl-step-3">
            <a:extLst xmlns:a="http://schemas.openxmlformats.org/drawingml/2006/main">
              <a:ext uri="{FF2B5EF4-FFF2-40B4-BE49-F238E27FC236}">
                <a16:creationId xmlns:a16="http://schemas.microsoft.com/office/drawing/2014/main" id="{69CBEEB9-3529-43E3-ADE2-9953082C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91100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DataFrame / CSV</a:t>
            </a:r>
          </a:p>
          <a:p xmlns:a="http://schemas.openxmlformats.org/drawingml/2006/main">
            <a:pPr algn="ctr">
              <a:def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整理成特徵資料</a:t>
            </a:r>
          </a:p>
        </p:txBody>
      </p:sp>
      <p:sp>
        <p:nvSpPr>
          <p:cNvPr id="26" name="s3-crawl-note">
            <a:extLst xmlns:a="http://schemas.openxmlformats.org/drawingml/2006/main">
              <a:ext uri="{FF2B5EF4-FFF2-40B4-BE49-F238E27FC236}">
                <a16:creationId xmlns:a16="http://schemas.microsoft.com/office/drawing/2014/main" id="{23FA5D16-97AE-4AC6-AF20-01AC99D3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0225"/>
            <a:ext cx="10353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defPPr>
            <a:lvl1pPr algn="ctr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1pPr>
            <a:lvl2pPr algn="ctr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2pPr>
            <a:lvl3pPr algn="ctr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3pPr>
            <a:lvl4pPr algn="ctr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4pPr>
            <a:lvl5pPr algn="ctr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5pPr>
            <a:lvl6pPr algn="ctr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6pPr>
            <a:lvl7pPr algn="ctr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7pPr>
            <a:lvl8pPr algn="ctr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8pPr>
            <a:lvl9pPr algn="ctr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ctr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pPr>
            <a:r>
              <a: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rPr>
              <a:t>591 刊登資料只作爬蟲流程示範；不混入成交租金模型，避免把開價當成交價。</a:t>
            </a:r>
          </a:p>
        </p:txBody>
      </p:sp>
    </p:spTree>
    <p:extLst>
      <p:ext uri="{BB962C8B-B14F-4D97-AF65-F5344CB8AC3E}">
        <p14:creationId xmlns:p14="http://schemas.microsoft.com/office/powerpoint/2010/main" val="766001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4">
            <a:extLst xmlns:a="http://schemas.openxmlformats.org/drawingml/2006/main">
              <a:ext uri="{FF2B5EF4-FFF2-40B4-BE49-F238E27FC236}">
                <a16:creationId xmlns:a16="http://schemas.microsoft.com/office/drawing/2014/main" id="{4CE451E6-30BD-4A7E-9977-F0F0F702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03　模型設計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1046BCD2-708C-4364-8DF4-06A7CCF2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48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04  /  09   ·   01:30</a:t>
            </a:r>
          </a:p>
        </p:txBody>
      </p:sp>
      <p:sp>
        <p:nvSpPr>
          <p:cNvPr id="3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6CF56466-09E1-4F66-99D5-B507FF72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8EBA59C4-D10F-49F2-AAC3-13972F61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-4">
            <a:extLst xmlns:a="http://schemas.openxmlformats.org/drawingml/2006/main">
              <a:ext uri="{FF2B5EF4-FFF2-40B4-BE49-F238E27FC236}">
                <a16:creationId xmlns:a16="http://schemas.microsoft.com/office/drawing/2014/main" id="{CBE4731D-322B-445A-9FF5-7397A9B8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同一間房，賣掉還是出租？</a:t>
            </a:r>
          </a:p>
        </p:txBody>
      </p:sp>
      <p:sp>
        <p:nvSpPr>
          <p:cNvPr id="6" name="footer-time-4">
            <a:extLst xmlns:a="http://schemas.openxmlformats.org/drawingml/2006/main">
              <a:ext uri="{FF2B5EF4-FFF2-40B4-BE49-F238E27FC236}">
                <a16:creationId xmlns:a16="http://schemas.microsoft.com/office/drawing/2014/main" id="{EBD3353C-A47F-47E4-B9CA-42FDC1A2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43675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15 分鐘專題報告</a:t>
            </a:r>
          </a:p>
        </p:txBody>
      </p:sp>
      <p:sp>
        <p:nvSpPr>
          <p:cNvPr id="7" name="s4-kicker">
            <a:extLst xmlns:a="http://schemas.openxmlformats.org/drawingml/2006/main">
              <a:ext uri="{FF2B5EF4-FFF2-40B4-BE49-F238E27FC236}">
                <a16:creationId xmlns:a16="http://schemas.microsoft.com/office/drawing/2014/main" id="{526B5A1E-726E-4D1F-B623-E2477C84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同一房屋條件　／　兩個分開訓練的迴歸器</a:t>
            </a:r>
          </a:p>
        </p:txBody>
      </p:sp>
      <p:sp>
        <p:nvSpPr>
          <p:cNvPr id="8" name="s4-title">
            <a:extLst xmlns:a="http://schemas.openxmlformats.org/drawingml/2006/main">
              <a:ext uri="{FF2B5EF4-FFF2-40B4-BE49-F238E27FC236}">
                <a16:creationId xmlns:a16="http://schemas.microsoft.com/office/drawing/2014/main" id="{C84FE10C-AB5B-4B04-9920-D8502271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defPPr>
            <a:lvl1pPr algn="l">
              <a:defRPr sz="27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  <a:lvl2pPr algn="l">
              <a:defRPr sz="27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2pPr>
            <a:lvl3pPr algn="l">
              <a:defRPr sz="27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3pPr>
            <a:lvl4pPr algn="l">
              <a:defRPr sz="27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4pPr>
            <a:lvl5pPr algn="l">
              <a:defRPr sz="27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5pPr>
            <a:lvl6pPr algn="l">
              <a:defRPr sz="27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6pPr>
            <a:lvl7pPr algn="l">
              <a:defRPr sz="27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7pPr>
            <a:lvl8pPr algn="l">
              <a:defRPr sz="27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8pPr>
            <a:lvl9pPr algn="l">
              <a:defRPr sz="27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9pPr>
          </a:lstStyle>
          <a:p xmlns:a="http://schemas.openxmlformats.org/drawingml/2006/main">
            <a:pPr algn="l">
              <a:defRPr sz="2700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pPr>
            <a:r>
              <a:rPr sz="2700" b="0" i="0">
                <a:solidFill>
                  <a:srgbClr val="1A1A1A"/>
                </a:solidFill>
                <a:latin typeface="Garamond"/>
                <a:ea typeface="Garamond"/>
                <a:cs typeface="Garamond"/>
              </a:rPr>
              <a:t>模型預測什麼？每一個輸入欄位都列出來</a:t>
            </a:r>
          </a:p>
        </p:txBody>
      </p:sp>
      <p:sp>
        <p:nvSpPr>
          <p:cNvPr id="9" name="s4-input-heading">
            <a:extLst xmlns:a="http://schemas.openxmlformats.org/drawingml/2006/main">
              <a:ext uri="{FF2B5EF4-FFF2-40B4-BE49-F238E27FC236}">
                <a16:creationId xmlns:a16="http://schemas.microsoft.com/office/drawing/2014/main" id="{EE105D85-0DA7-4F34-BB5C-63FA0E5A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>
            <a:def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pPr>
            <a:r>
              <a: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rPr>
              <a:t>輸入變數 X</a:t>
            </a:r>
          </a:p>
        </p:txBody>
      </p:sp>
      <p:sp>
        <p:nvSpPr>
          <p:cNvPr id="10" name="s4-input-rule">
            <a:extLst xmlns:a="http://schemas.openxmlformats.org/drawingml/2006/main">
              <a:ext uri="{FF2B5EF4-FFF2-40B4-BE49-F238E27FC236}">
                <a16:creationId xmlns:a16="http://schemas.microsoft.com/office/drawing/2014/main" id="{87C45A66-751F-4EDC-9C89-920D6CD3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23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-common-label">
            <a:extLst xmlns:a="http://schemas.openxmlformats.org/drawingml/2006/main">
              <a:ext uri="{FF2B5EF4-FFF2-40B4-BE49-F238E27FC236}">
                <a16:creationId xmlns:a16="http://schemas.microsoft.com/office/drawing/2014/main" id="{A6FE575D-58D6-454A-9882-21E1E3BF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7475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房屋共同特徵</a:t>
            </a:r>
          </a:p>
        </p:txBody>
      </p:sp>
      <p:sp>
        <p:nvSpPr>
          <p:cNvPr id="12" name="s4-common">
            <a:extLst xmlns:a="http://schemas.openxmlformats.org/drawingml/2006/main">
              <a:ext uri="{FF2B5EF4-FFF2-40B4-BE49-F238E27FC236}">
                <a16:creationId xmlns:a16="http://schemas.microsoft.com/office/drawing/2014/main" id="{12052D88-0C8E-4DF5-B50B-8CF00D3F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行政區、坪數、屋齡、所在樓層/總樓層、</a:t>
            </a:r>
          </a:p>
          <a:p xmlns:a="http://schemas.openxmlformats.org/drawingml/2006/main">
            <a: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房/廳/衛數、建物型態、用途、交易年月</a:t>
            </a:r>
          </a:p>
        </p:txBody>
      </p:sp>
      <p:sp>
        <p:nvSpPr>
          <p:cNvPr id="13" name="s4-mid-rule">
            <a:extLst xmlns:a="http://schemas.openxmlformats.org/drawingml/2006/main">
              <a:ext uri="{FF2B5EF4-FFF2-40B4-BE49-F238E27FC236}">
                <a16:creationId xmlns:a16="http://schemas.microsoft.com/office/drawing/2014/main" id="{994B2F87-3A67-47BB-BB33-431962FC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rent-only">
            <a:extLst xmlns:a="http://schemas.openxmlformats.org/drawingml/2006/main">
              <a:ext uri="{FF2B5EF4-FFF2-40B4-BE49-F238E27FC236}">
                <a16:creationId xmlns:a16="http://schemas.microsoft.com/office/drawing/2014/main" id="{55764D00-8571-4956-BA92-23E794D9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租金額外欄位：租賃房型、管理、家具、電梯</a:t>
            </a:r>
          </a:p>
        </p:txBody>
      </p:sp>
      <p:sp>
        <p:nvSpPr>
          <p:cNvPr id="15" name="s4-sale-only">
            <a:extLst xmlns:a="http://schemas.openxmlformats.org/drawingml/2006/main">
              <a:ext uri="{FF2B5EF4-FFF2-40B4-BE49-F238E27FC236}">
                <a16:creationId xmlns:a16="http://schemas.microsoft.com/office/drawing/2014/main" id="{34E6A932-69D7-4E88-963A-4672AA56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售價額外欄位：管理、電梯、車位有無與車位價</a:t>
            </a:r>
          </a:p>
        </p:txBody>
      </p:sp>
      <p:sp>
        <p:nvSpPr>
          <p:cNvPr id="16" name="s4-outputs-label">
            <a:extLst xmlns:a="http://schemas.openxmlformats.org/drawingml/2006/main">
              <a:ext uri="{FF2B5EF4-FFF2-40B4-BE49-F238E27FC236}">
                <a16:creationId xmlns:a16="http://schemas.microsoft.com/office/drawing/2014/main" id="{7FC8ED3D-3829-4F8B-9D85-A7EA88C5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rPr>
              <a:t>預測目標 y</a:t>
            </a:r>
          </a:p>
        </p:txBody>
      </p:sp>
      <p:sp>
        <p:nvSpPr>
          <p:cNvPr id="17" name="s4-outputs">
            <a:extLst xmlns:a="http://schemas.openxmlformats.org/drawingml/2006/main">
              <a:ext uri="{FF2B5EF4-FFF2-40B4-BE49-F238E27FC236}">
                <a16:creationId xmlns:a16="http://schemas.microsoft.com/office/drawing/2014/main" id="{554E6628-B24E-472D-8291-46EE04A4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006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租金：元/月/坪　｜　售價：萬元/坪</a:t>
            </a:r>
          </a:p>
        </p:txBody>
      </p:sp>
      <p:sp>
        <p:nvSpPr>
          <p:cNvPr id="18" name="s4-pipeline-heading">
            <a:extLst xmlns:a="http://schemas.openxmlformats.org/drawingml/2006/main">
              <a:ext uri="{FF2B5EF4-FFF2-40B4-BE49-F238E27FC236}">
                <a16:creationId xmlns:a16="http://schemas.microsoft.com/office/drawing/2014/main" id="{A781BA06-DEAA-4E90-946E-4DD8187D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>
            <a:def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訓練流程</a:t>
            </a:r>
          </a:p>
        </p:txBody>
      </p:sp>
      <p:sp>
        <p:nvSpPr>
          <p:cNvPr id="19" name="s4-step-box-0">
            <a:extLst xmlns:a="http://schemas.openxmlformats.org/drawingml/2006/main">
              <a:ext uri="{FF2B5EF4-FFF2-40B4-BE49-F238E27FC236}">
                <a16:creationId xmlns:a16="http://schemas.microsoft.com/office/drawing/2014/main" id="{B6287359-2DFF-4304-92ED-F18CD15F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2266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4-step-0">
            <a:extLst xmlns:a="http://schemas.openxmlformats.org/drawingml/2006/main">
              <a:ext uri="{FF2B5EF4-FFF2-40B4-BE49-F238E27FC236}">
                <a16:creationId xmlns:a16="http://schemas.microsoft.com/office/drawing/2014/main" id="{8E569782-5840-43FA-9945-5BD49B6C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432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清理</a:t>
            </a:r>
          </a:p>
          <a:p xmlns:a="http://schemas.openxmlformats.org/drawingml/2006/main">
            <a: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面積/日期/離群值</a:t>
            </a:r>
          </a:p>
        </p:txBody>
      </p:sp>
      <p:sp>
        <p:nvSpPr>
          <p:cNvPr id="21" name="s4-step-box-1">
            <a:extLst xmlns:a="http://schemas.openxmlformats.org/drawingml/2006/main">
              <a:ext uri="{FF2B5EF4-FFF2-40B4-BE49-F238E27FC236}">
                <a16:creationId xmlns:a16="http://schemas.microsoft.com/office/drawing/2014/main" id="{611DDC3A-8BB3-4660-A801-1C7D671F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9850"/>
            <a:ext cx="2266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4-step-1">
            <a:extLst xmlns:a="http://schemas.openxmlformats.org/drawingml/2006/main">
              <a:ext uri="{FF2B5EF4-FFF2-40B4-BE49-F238E27FC236}">
                <a16:creationId xmlns:a16="http://schemas.microsoft.com/office/drawing/2014/main" id="{C9A73578-845C-4A7A-9466-CB717F8E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432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前處理</a:t>
            </a:r>
          </a:p>
          <a:p xmlns:a="http://schemas.openxmlformats.org/drawingml/2006/main">
            <a: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缺值填補/類別編碼</a:t>
            </a:r>
          </a:p>
        </p:txBody>
      </p:sp>
      <p:sp>
        <p:nvSpPr>
          <p:cNvPr id="23" name="s4-step-box-2">
            <a:extLst xmlns:a="http://schemas.openxmlformats.org/drawingml/2006/main">
              <a:ext uri="{FF2B5EF4-FFF2-40B4-BE49-F238E27FC236}">
                <a16:creationId xmlns:a16="http://schemas.microsoft.com/office/drawing/2014/main" id="{A406C235-B6D5-4E4B-B307-7E7DF442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86200"/>
            <a:ext cx="2266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4-step-2">
            <a:extLst xmlns:a="http://schemas.openxmlformats.org/drawingml/2006/main">
              <a:ext uri="{FF2B5EF4-FFF2-40B4-BE49-F238E27FC236}">
                <a16:creationId xmlns:a16="http://schemas.microsoft.com/office/drawing/2014/main" id="{7AB1CB80-1A13-4F94-B05C-5C860C36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195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defPPr>
            <a:lvl1pPr algn="ctr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1pPr>
            <a:lvl2pPr algn="ctr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2pPr>
            <a:lvl3pPr algn="ctr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3pPr>
            <a:lvl4pPr algn="ctr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4pPr>
            <a:lvl5pPr algn="ctr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5pPr>
            <a:lvl6pPr algn="ctr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6pPr>
            <a:lvl7pPr algn="ctr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7pPr>
            <a:lvl8pPr algn="ctr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8pPr>
            <a:lvl9pPr algn="ctr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ctr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pPr>
            <a:r>
              <a: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rPr>
              <a:t>模型比較</a:t>
            </a:r>
          </a:p>
          <a:p xmlns:a="http://schemas.openxmlformats.org/drawingml/2006/main">
            <a:pPr algn="ctr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pPr>
            <a:r>
              <a: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rPr>
              <a:t>中位數 / Ridge / RF</a:t>
            </a:r>
          </a:p>
        </p:txBody>
      </p:sp>
      <p:sp>
        <p:nvSpPr>
          <p:cNvPr id="25" name="s4-step-box-3">
            <a:extLst xmlns:a="http://schemas.openxmlformats.org/drawingml/2006/main">
              <a:ext uri="{FF2B5EF4-FFF2-40B4-BE49-F238E27FC236}">
                <a16:creationId xmlns:a16="http://schemas.microsoft.com/office/drawing/2014/main" id="{341F0A26-86D9-48A9-8AF5-21038A47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2266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4-step-3">
            <a:extLst xmlns:a="http://schemas.openxmlformats.org/drawingml/2006/main">
              <a:ext uri="{FF2B5EF4-FFF2-40B4-BE49-F238E27FC236}">
                <a16:creationId xmlns:a16="http://schemas.microsoft.com/office/drawing/2014/main" id="{D38DF5EE-AFC4-48DB-8E83-DBB53E43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195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輸出</a:t>
            </a:r>
          </a:p>
          <a:p xmlns:a="http://schemas.openxmlformats.org/drawingml/2006/main">
            <a:pPr algn="ctr">
              <a:def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2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租金/坪、售價/坪</a:t>
            </a:r>
          </a:p>
        </p:txBody>
      </p:sp>
      <p:sp>
        <p:nvSpPr>
          <p:cNvPr id="27" name="s4-arrow-a">
            <a:extLst xmlns:a="http://schemas.openxmlformats.org/drawingml/2006/main">
              <a:ext uri="{FF2B5EF4-FFF2-40B4-BE49-F238E27FC236}">
                <a16:creationId xmlns:a16="http://schemas.microsoft.com/office/drawing/2014/main" id="{F7DC65F2-59E0-43F3-BE60-40BAE634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847975"/>
            <a:ext cx="352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>
            <a:def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s4-arrow-b">
            <a:extLst xmlns:a="http://schemas.openxmlformats.org/drawingml/2006/main">
              <a:ext uri="{FF2B5EF4-FFF2-40B4-BE49-F238E27FC236}">
                <a16:creationId xmlns:a16="http://schemas.microsoft.com/office/drawing/2014/main" id="{7481A54D-5E6E-4F3B-96B7-46C72FE7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95675"/>
            <a:ext cx="352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9" name="s4-arrow-c">
            <a:extLst xmlns:a="http://schemas.openxmlformats.org/drawingml/2006/main">
              <a:ext uri="{FF2B5EF4-FFF2-40B4-BE49-F238E27FC236}">
                <a16:creationId xmlns:a16="http://schemas.microsoft.com/office/drawing/2014/main" id="{C103F3DA-A5B7-468A-99ED-B48C2294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143375"/>
            <a:ext cx="352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>
            <a:def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30" name="s4-split-band">
            <a:extLst xmlns:a="http://schemas.openxmlformats.org/drawingml/2006/main">
              <a:ext uri="{FF2B5EF4-FFF2-40B4-BE49-F238E27FC236}">
                <a16:creationId xmlns:a16="http://schemas.microsoft.com/office/drawing/2014/main" id="{3C4C4742-696E-4C48-BEEA-0BFBE8D8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4-split">
            <a:extLst xmlns:a="http://schemas.openxmlformats.org/drawingml/2006/main">
              <a:ext uri="{FF2B5EF4-FFF2-40B4-BE49-F238E27FC236}">
                <a16:creationId xmlns:a16="http://schemas.microsoft.com/office/drawing/2014/main" id="{9B592DA1-EEE3-411E-9969-DAE3E6C8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00650"/>
            <a:ext cx="449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defPPr>
            <a:lvl1pPr algn="ctr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1pPr>
            <a:lvl2pPr algn="ctr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2pPr>
            <a:lvl3pPr algn="ctr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3pPr>
            <a:lvl4pPr algn="ctr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4pPr>
            <a:lvl5pPr algn="ctr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5pPr>
            <a:lvl6pPr algn="ctr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6pPr>
            <a:lvl7pPr algn="ctr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7pPr>
            <a:lvl8pPr algn="ctr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8pPr>
            <a:lvl9pPr algn="ctr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ctr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rPr>
              <a:t>按日期排序：前 80% 訓練，最新 20% 測試。</a:t>
            </a:r>
          </a:p>
          <a:p xmlns:a="http://schemas.openxmlformats.org/drawingml/2006/main">
            <a:pPr algn="ctr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rPr>
              <a:t>MAE / RMSE 越低越好；不以隨機切分偷看未來。</a:t>
            </a:r>
          </a:p>
        </p:txBody>
      </p:sp>
    </p:spTree>
    <p:extLst>
      <p:ext uri="{BB962C8B-B14F-4D97-AF65-F5344CB8AC3E}">
        <p14:creationId xmlns:p14="http://schemas.microsoft.com/office/powerpoint/2010/main" val="5001516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ection-5">
            <a:extLst xmlns:a="http://schemas.openxmlformats.org/drawingml/2006/main">
              <a:ext uri="{FF2B5EF4-FFF2-40B4-BE49-F238E27FC236}">
                <a16:creationId xmlns:a16="http://schemas.microsoft.com/office/drawing/2014/main" id="{CD73CD3B-14AA-4E43-B899-E5E50C98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04　模型結果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5DD54131-75C3-42E3-8A54-817F1F84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48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05  /  09   ·   03:00</a:t>
            </a:r>
          </a:p>
        </p:txBody>
      </p:sp>
      <p:sp>
        <p:nvSpPr>
          <p:cNvPr id="3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4A15EC75-9B60-4D0B-B2CA-685EED05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E8A6DC7B-8A05-4A45-BC6F-96BC7DFE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-5">
            <a:extLst xmlns:a="http://schemas.openxmlformats.org/drawingml/2006/main">
              <a:ext uri="{FF2B5EF4-FFF2-40B4-BE49-F238E27FC236}">
                <a16:creationId xmlns:a16="http://schemas.microsoft.com/office/drawing/2014/main" id="{BEC1E1E4-A024-4BB3-918D-3064A4E1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同一間房，賣掉還是出租？</a:t>
            </a:r>
          </a:p>
        </p:txBody>
      </p:sp>
      <p:sp>
        <p:nvSpPr>
          <p:cNvPr id="6" name="footer-time-5">
            <a:extLst xmlns:a="http://schemas.openxmlformats.org/drawingml/2006/main">
              <a:ext uri="{FF2B5EF4-FFF2-40B4-BE49-F238E27FC236}">
                <a16:creationId xmlns:a16="http://schemas.microsoft.com/office/drawing/2014/main" id="{BC043CC8-FE29-4729-BCDA-6280F268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43675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15 分鐘專題報告</a:t>
            </a:r>
          </a:p>
        </p:txBody>
      </p:sp>
      <p:sp>
        <p:nvSpPr>
          <p:cNvPr id="7" name="s5-kicker">
            <a:extLst xmlns:a="http://schemas.openxmlformats.org/drawingml/2006/main">
              <a:ext uri="{FF2B5EF4-FFF2-40B4-BE49-F238E27FC236}">
                <a16:creationId xmlns:a16="http://schemas.microsoft.com/office/drawing/2014/main" id="{5CCF8E47-6529-4638-B5B7-9844DBC9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429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實際測試集分數　／　同一測試資料比較三種模型</a:t>
            </a:r>
          </a:p>
        </p:txBody>
      </p:sp>
      <p:sp>
        <p:nvSpPr>
          <p:cNvPr id="8" name="s5-title">
            <a:extLst xmlns:a="http://schemas.openxmlformats.org/drawingml/2006/main">
              <a:ext uri="{FF2B5EF4-FFF2-40B4-BE49-F238E27FC236}">
                <a16:creationId xmlns:a16="http://schemas.microsoft.com/office/drawing/2014/main" id="{857A6BC3-2019-489F-B72B-8FDC4871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defPPr>
            <a:lvl1pPr algn="l">
              <a:defRPr sz="292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  <a:lvl2pPr algn="l">
              <a:defRPr sz="292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2pPr>
            <a:lvl3pPr algn="l">
              <a:defRPr sz="292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3pPr>
            <a:lvl4pPr algn="l">
              <a:defRPr sz="292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4pPr>
            <a:lvl5pPr algn="l">
              <a:defRPr sz="292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5pPr>
            <a:lvl6pPr algn="l">
              <a:defRPr sz="292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6pPr>
            <a:lvl7pPr algn="l">
              <a:defRPr sz="292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7pPr>
            <a:lvl8pPr algn="l">
              <a:defRPr sz="292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8pPr>
            <a:lvl9pPr algn="l">
              <a:defRPr sz="292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9pPr>
          </a:lstStyle>
          <a:p xmlns:a="http://schemas.openxmlformats.org/drawingml/2006/main">
            <a:pPr algn="l">
              <a:defRPr sz="292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pPr>
            <a:r>
              <a:rPr sz="2925" b="0" i="0">
                <a:solidFill>
                  <a:srgbClr val="1A1A1A"/>
                </a:solidFill>
                <a:latin typeface="Garamond"/>
                <a:ea typeface="Garamond"/>
                <a:cs typeface="Garamond"/>
              </a:rPr>
              <a:t>隨機森林在租金與售價都更準</a:t>
            </a:r>
          </a:p>
        </p:txBody>
      </p:sp>
      <p:sp>
        <p:nvSpPr>
          <p:cNvPr id="9" name="s5-split">
            <a:extLst xmlns:a="http://schemas.openxmlformats.org/drawingml/2006/main">
              <a:ext uri="{FF2B5EF4-FFF2-40B4-BE49-F238E27FC236}">
                <a16:creationId xmlns:a16="http://schemas.microsoft.com/office/drawing/2014/main" id="{914C2AA4-68EA-47D6-8BCE-E153BDB1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pPr>
            <a:r>
              <a: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rPr>
              <a:t>時間切分：租金測試 2026-05-12–2026-07-20（8,788 筆）；售價測試 2026-02-03–2026-08-13（8,337 筆）</a:t>
            </a:r>
          </a:p>
        </p:txBody>
      </p:sp>
      <p:sp>
        <p:nvSpPr>
          <p:cNvPr id="10" name="s5-rent-card">
            <a:extLst xmlns:a="http://schemas.openxmlformats.org/drawingml/2006/main">
              <a:ext uri="{FF2B5EF4-FFF2-40B4-BE49-F238E27FC236}">
                <a16:creationId xmlns:a16="http://schemas.microsoft.com/office/drawing/2014/main" id="{F20599EC-85C9-4A72-9BB5-B1CA5D3A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5048250" cy="307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5-rent-title">
            <a:extLst xmlns:a="http://schemas.openxmlformats.org/drawingml/2006/main">
              <a:ext uri="{FF2B5EF4-FFF2-40B4-BE49-F238E27FC236}">
                <a16:creationId xmlns:a16="http://schemas.microsoft.com/office/drawing/2014/main" id="{71F54B2F-85F6-4384-BEE2-B1C0D5C4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pPr>
            <a:r>
              <a:rPr sz="15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rPr>
              <a:t>租金模型</a:t>
            </a:r>
          </a:p>
        </p:txBody>
      </p:sp>
      <p:sp>
        <p:nvSpPr>
          <p:cNvPr id="12" name="s5-rent-unit">
            <a:extLst xmlns:a="http://schemas.openxmlformats.org/drawingml/2006/main">
              <a:ext uri="{FF2B5EF4-FFF2-40B4-BE49-F238E27FC236}">
                <a16:creationId xmlns:a16="http://schemas.microsoft.com/office/drawing/2014/main" id="{4083260C-9BBC-4FA3-B478-ECAEDE79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552700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defPPr>
            <a:lvl1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1pPr>
            <a:lvl2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2pPr>
            <a:lvl3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3pPr>
            <a:lvl4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4pPr>
            <a:lvl5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5pPr>
            <a:lvl6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6pPr>
            <a:lvl7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7pPr>
            <a:lvl8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8pPr>
            <a:lvl9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pPr>
            <a:r>
              <a: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rPr>
              <a:t>MAE / RMSE　元/月/坪</a:t>
            </a:r>
          </a:p>
        </p:txBody>
      </p:sp>
      <p:sp>
        <p:nvSpPr>
          <p:cNvPr id="13" name="s5-rent-rule">
            <a:extLst xmlns:a="http://schemas.openxmlformats.org/drawingml/2006/main">
              <a:ext uri="{FF2B5EF4-FFF2-40B4-BE49-F238E27FC236}">
                <a16:creationId xmlns:a16="http://schemas.microsoft.com/office/drawing/2014/main" id="{1E9DA9E3-887D-4268-85AC-CA30717E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70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23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5-rent-hdr-model">
            <a:extLst xmlns:a="http://schemas.openxmlformats.org/drawingml/2006/main">
              <a:ext uri="{FF2B5EF4-FFF2-40B4-BE49-F238E27FC236}">
                <a16:creationId xmlns:a16="http://schemas.microsoft.com/office/drawing/2014/main" id="{9AAA1CD1-CFCA-46EF-A582-18DD9614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575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pPr>
            <a:r>
              <a: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rPr>
              <a:t>模型</a:t>
            </a:r>
          </a:p>
        </p:txBody>
      </p:sp>
      <p:sp>
        <p:nvSpPr>
          <p:cNvPr id="15" name="s5-rent-hdr-mae">
            <a:extLst xmlns:a="http://schemas.openxmlformats.org/drawingml/2006/main">
              <a:ext uri="{FF2B5EF4-FFF2-40B4-BE49-F238E27FC236}">
                <a16:creationId xmlns:a16="http://schemas.microsoft.com/office/drawing/2014/main" id="{37F5C483-DC91-4A67-8F85-6A4408B3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05752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MAE ↓</a:t>
            </a:r>
          </a:p>
        </p:txBody>
      </p:sp>
      <p:sp>
        <p:nvSpPr>
          <p:cNvPr id="16" name="s5-rent-hdr-rmse">
            <a:extLst xmlns:a="http://schemas.openxmlformats.org/drawingml/2006/main">
              <a:ext uri="{FF2B5EF4-FFF2-40B4-BE49-F238E27FC236}">
                <a16:creationId xmlns:a16="http://schemas.microsoft.com/office/drawing/2014/main" id="{E9D26B45-E831-49EE-8A30-CDC19BC5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575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RMSE ↓</a:t>
            </a:r>
          </a:p>
        </p:txBody>
      </p:sp>
      <p:sp>
        <p:nvSpPr>
          <p:cNvPr id="17" name="s5-rent-model-0">
            <a:extLst xmlns:a="http://schemas.openxmlformats.org/drawingml/2006/main">
              <a:ext uri="{FF2B5EF4-FFF2-40B4-BE49-F238E27FC236}">
                <a16:creationId xmlns:a16="http://schemas.microsoft.com/office/drawing/2014/main" id="{B9D136B8-8728-4ED2-87ED-8236F320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中位數基準</a:t>
            </a:r>
          </a:p>
        </p:txBody>
      </p:sp>
      <p:sp>
        <p:nvSpPr>
          <p:cNvPr id="18" name="s5-rent-mae-0">
            <a:extLst xmlns:a="http://schemas.openxmlformats.org/drawingml/2006/main">
              <a:ext uri="{FF2B5EF4-FFF2-40B4-BE49-F238E27FC236}">
                <a16:creationId xmlns:a16="http://schemas.microsoft.com/office/drawing/2014/main" id="{D9350136-16B7-4016-8B64-CA75F558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40042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362</a:t>
            </a:r>
          </a:p>
        </p:txBody>
      </p:sp>
      <p:sp>
        <p:nvSpPr>
          <p:cNvPr id="19" name="s5-rent-rmse-0">
            <a:extLst xmlns:a="http://schemas.openxmlformats.org/drawingml/2006/main">
              <a:ext uri="{FF2B5EF4-FFF2-40B4-BE49-F238E27FC236}">
                <a16:creationId xmlns:a16="http://schemas.microsoft.com/office/drawing/2014/main" id="{F0C50312-A62F-4DDF-91AB-AB202482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004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569</a:t>
            </a:r>
          </a:p>
        </p:txBody>
      </p:sp>
      <p:sp>
        <p:nvSpPr>
          <p:cNvPr id="20" name="s5-rent-model-1">
            <a:extLst xmlns:a="http://schemas.openxmlformats.org/drawingml/2006/main">
              <a:ext uri="{FF2B5EF4-FFF2-40B4-BE49-F238E27FC236}">
                <a16:creationId xmlns:a16="http://schemas.microsoft.com/office/drawing/2014/main" id="{BFD7349B-CBE8-4AEE-9015-45652CE1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Ridge 線性迴歸</a:t>
            </a:r>
          </a:p>
        </p:txBody>
      </p:sp>
      <p:sp>
        <p:nvSpPr>
          <p:cNvPr id="21" name="s5-rent-mae-1">
            <a:extLst xmlns:a="http://schemas.openxmlformats.org/drawingml/2006/main">
              <a:ext uri="{FF2B5EF4-FFF2-40B4-BE49-F238E27FC236}">
                <a16:creationId xmlns:a16="http://schemas.microsoft.com/office/drawing/2014/main" id="{7C0431F7-9F39-4670-8809-ED6432CD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9433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225</a:t>
            </a:r>
          </a:p>
        </p:txBody>
      </p:sp>
      <p:sp>
        <p:nvSpPr>
          <p:cNvPr id="22" name="s5-rent-rmse-1">
            <a:extLst xmlns:a="http://schemas.openxmlformats.org/drawingml/2006/main">
              <a:ext uri="{FF2B5EF4-FFF2-40B4-BE49-F238E27FC236}">
                <a16:creationId xmlns:a16="http://schemas.microsoft.com/office/drawing/2014/main" id="{A11C0AD7-4D59-4E4A-9BF5-07CD18BC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433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363</a:t>
            </a:r>
          </a:p>
        </p:txBody>
      </p:sp>
      <p:sp>
        <p:nvSpPr>
          <p:cNvPr id="23" name="s5-rent-highlight">
            <a:extLst xmlns:a="http://schemas.openxmlformats.org/drawingml/2006/main">
              <a:ext uri="{FF2B5EF4-FFF2-40B4-BE49-F238E27FC236}">
                <a16:creationId xmlns:a16="http://schemas.microsoft.com/office/drawing/2014/main" id="{9517D2FC-F2EC-4A57-8113-48007BF5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4857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5-rent-model-2">
            <a:extLst xmlns:a="http://schemas.openxmlformats.org/drawingml/2006/main">
              <a:ext uri="{FF2B5EF4-FFF2-40B4-BE49-F238E27FC236}">
                <a16:creationId xmlns:a16="http://schemas.microsoft.com/office/drawing/2014/main" id="{397D5E28-C6FA-43A2-A9DA-FEE42F9D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862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rPr>
              <a:t>Random Forest</a:t>
            </a:r>
          </a:p>
        </p:txBody>
      </p:sp>
      <p:sp>
        <p:nvSpPr>
          <p:cNvPr id="25" name="s5-rent-mae-2">
            <a:extLst xmlns:a="http://schemas.openxmlformats.org/drawingml/2006/main">
              <a:ext uri="{FF2B5EF4-FFF2-40B4-BE49-F238E27FC236}">
                <a16:creationId xmlns:a16="http://schemas.microsoft.com/office/drawing/2014/main" id="{31084FCF-609A-4791-97C9-92D782A3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48627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140</a:t>
            </a:r>
          </a:p>
        </p:txBody>
      </p:sp>
      <p:sp>
        <p:nvSpPr>
          <p:cNvPr id="26" name="s5-rent-rmse-2">
            <a:extLst xmlns:a="http://schemas.openxmlformats.org/drawingml/2006/main">
              <a:ext uri="{FF2B5EF4-FFF2-40B4-BE49-F238E27FC236}">
                <a16:creationId xmlns:a16="http://schemas.microsoft.com/office/drawing/2014/main" id="{C66B86C2-CB2C-40E0-871B-8C2AC27B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4862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220</a:t>
            </a:r>
          </a:p>
        </p:txBody>
      </p:sp>
      <p:sp>
        <p:nvSpPr>
          <p:cNvPr id="27" name="s5-rent-samples">
            <a:extLst xmlns:a="http://schemas.openxmlformats.org/drawingml/2006/main">
              <a:ext uri="{FF2B5EF4-FFF2-40B4-BE49-F238E27FC236}">
                <a16:creationId xmlns:a16="http://schemas.microsoft.com/office/drawing/2014/main" id="{6FFAFE94-A426-4F33-A793-53D84769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pPr>
            <a:r>
              <a: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rPr>
              <a:t>訓練 35,149 筆　／　測試 8,788 筆</a:t>
            </a:r>
          </a:p>
        </p:txBody>
      </p:sp>
      <p:sp>
        <p:nvSpPr>
          <p:cNvPr id="28" name="s5-sale-card">
            <a:extLst xmlns:a="http://schemas.openxmlformats.org/drawingml/2006/main">
              <a:ext uri="{FF2B5EF4-FFF2-40B4-BE49-F238E27FC236}">
                <a16:creationId xmlns:a16="http://schemas.microsoft.com/office/drawing/2014/main" id="{8FD68752-EABC-484A-B61B-08E95232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33625"/>
            <a:ext cx="5048250" cy="307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5-sale-title">
            <a:extLst xmlns:a="http://schemas.openxmlformats.org/drawingml/2006/main">
              <a:ext uri="{FF2B5EF4-FFF2-40B4-BE49-F238E27FC236}">
                <a16:creationId xmlns:a16="http://schemas.microsoft.com/office/drawing/2014/main" id="{8723950D-55E0-4675-87C3-98E17D1D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050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57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售價模型</a:t>
            </a:r>
          </a:p>
        </p:txBody>
      </p:sp>
      <p:sp>
        <p:nvSpPr>
          <p:cNvPr id="30" name="s5-sale-unit">
            <a:extLst xmlns:a="http://schemas.openxmlformats.org/drawingml/2006/main">
              <a:ext uri="{FF2B5EF4-FFF2-40B4-BE49-F238E27FC236}">
                <a16:creationId xmlns:a16="http://schemas.microsoft.com/office/drawing/2014/main" id="{6835E17B-AAFD-4E9B-B663-DD0AC066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552700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defPPr>
            <a:lvl1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1pPr>
            <a:lvl2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2pPr>
            <a:lvl3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3pPr>
            <a:lvl4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4pPr>
            <a:lvl5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5pPr>
            <a:lvl6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6pPr>
            <a:lvl7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7pPr>
            <a:lvl8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8pPr>
            <a:lvl9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r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pPr>
            <a:r>
              <a: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rPr>
              <a:t>MAE / RMSE　萬元/坪</a:t>
            </a:r>
          </a:p>
        </p:txBody>
      </p:sp>
      <p:sp>
        <p:nvSpPr>
          <p:cNvPr id="31" name="s5-sale-rule">
            <a:extLst xmlns:a="http://schemas.openxmlformats.org/drawingml/2006/main">
              <a:ext uri="{FF2B5EF4-FFF2-40B4-BE49-F238E27FC236}">
                <a16:creationId xmlns:a16="http://schemas.microsoft.com/office/drawing/2014/main" id="{AB60BE1F-3B9F-4C86-9039-CFCA2AAC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70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5-sale-hdr-model">
            <a:extLst xmlns:a="http://schemas.openxmlformats.org/drawingml/2006/main">
              <a:ext uri="{FF2B5EF4-FFF2-40B4-BE49-F238E27FC236}">
                <a16:creationId xmlns:a16="http://schemas.microsoft.com/office/drawing/2014/main" id="{3BD0AE53-47A3-40DA-9878-056C0201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575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pPr>
            <a:r>
              <a:rPr sz="975" b="1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rPr>
              <a:t>模型</a:t>
            </a:r>
          </a:p>
        </p:txBody>
      </p:sp>
      <p:sp>
        <p:nvSpPr>
          <p:cNvPr id="33" name="s5-sale-hdr-mae">
            <a:extLst xmlns:a="http://schemas.openxmlformats.org/drawingml/2006/main">
              <a:ext uri="{FF2B5EF4-FFF2-40B4-BE49-F238E27FC236}">
                <a16:creationId xmlns:a16="http://schemas.microsoft.com/office/drawing/2014/main" id="{D98FC0F1-44B7-4105-B5AF-D0DCC212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5752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MAE ↓</a:t>
            </a:r>
          </a:p>
        </p:txBody>
      </p:sp>
      <p:sp>
        <p:nvSpPr>
          <p:cNvPr id="34" name="s5-sale-hdr-rmse">
            <a:extLst xmlns:a="http://schemas.openxmlformats.org/drawingml/2006/main">
              <a:ext uri="{FF2B5EF4-FFF2-40B4-BE49-F238E27FC236}">
                <a16:creationId xmlns:a16="http://schemas.microsoft.com/office/drawing/2014/main" id="{C58B1713-F893-46D1-82C3-0E3E05D7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0575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RMSE ↓</a:t>
            </a:r>
          </a:p>
        </p:txBody>
      </p:sp>
      <p:sp>
        <p:nvSpPr>
          <p:cNvPr id="35" name="s5-sale-model-0">
            <a:extLst xmlns:a="http://schemas.openxmlformats.org/drawingml/2006/main">
              <a:ext uri="{FF2B5EF4-FFF2-40B4-BE49-F238E27FC236}">
                <a16:creationId xmlns:a16="http://schemas.microsoft.com/office/drawing/2014/main" id="{149045AD-ED38-4CCB-A595-B23F479B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0042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中位數基準</a:t>
            </a:r>
          </a:p>
        </p:txBody>
      </p:sp>
      <p:sp>
        <p:nvSpPr>
          <p:cNvPr id="36" name="s5-sale-mae-0">
            <a:extLst xmlns:a="http://schemas.openxmlformats.org/drawingml/2006/main">
              <a:ext uri="{FF2B5EF4-FFF2-40B4-BE49-F238E27FC236}">
                <a16:creationId xmlns:a16="http://schemas.microsoft.com/office/drawing/2014/main" id="{FE8BD01F-626D-4498-93EE-DBF0E2C5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40042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14.16</a:t>
            </a:r>
          </a:p>
        </p:txBody>
      </p:sp>
      <p:sp>
        <p:nvSpPr>
          <p:cNvPr id="37" name="s5-sale-rmse-0">
            <a:extLst xmlns:a="http://schemas.openxmlformats.org/drawingml/2006/main">
              <a:ext uri="{FF2B5EF4-FFF2-40B4-BE49-F238E27FC236}">
                <a16:creationId xmlns:a16="http://schemas.microsoft.com/office/drawing/2014/main" id="{4F7F12E3-937D-417E-A1BD-0501AF48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004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17.53</a:t>
            </a:r>
          </a:p>
        </p:txBody>
      </p:sp>
      <p:sp>
        <p:nvSpPr>
          <p:cNvPr id="38" name="s5-sale-model-1">
            <a:extLst xmlns:a="http://schemas.openxmlformats.org/drawingml/2006/main">
              <a:ext uri="{FF2B5EF4-FFF2-40B4-BE49-F238E27FC236}">
                <a16:creationId xmlns:a16="http://schemas.microsoft.com/office/drawing/2014/main" id="{AAE9CD3E-C5D6-4F97-88B0-00D0A80D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433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Ridge 線性迴歸</a:t>
            </a:r>
          </a:p>
        </p:txBody>
      </p:sp>
      <p:sp>
        <p:nvSpPr>
          <p:cNvPr id="39" name="s5-sale-mae-1">
            <a:extLst xmlns:a="http://schemas.openxmlformats.org/drawingml/2006/main">
              <a:ext uri="{FF2B5EF4-FFF2-40B4-BE49-F238E27FC236}">
                <a16:creationId xmlns:a16="http://schemas.microsoft.com/office/drawing/2014/main" id="{5DFE528E-8E42-4755-9595-EF1DD224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9433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8.76</a:t>
            </a:r>
          </a:p>
        </p:txBody>
      </p:sp>
      <p:sp>
        <p:nvSpPr>
          <p:cNvPr id="40" name="s5-sale-rmse-1">
            <a:extLst xmlns:a="http://schemas.openxmlformats.org/drawingml/2006/main">
              <a:ext uri="{FF2B5EF4-FFF2-40B4-BE49-F238E27FC236}">
                <a16:creationId xmlns:a16="http://schemas.microsoft.com/office/drawing/2014/main" id="{8DBB318B-4F7D-4838-84C8-1A2AD0E5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9433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11.79</a:t>
            </a:r>
          </a:p>
        </p:txBody>
      </p:sp>
      <p:sp>
        <p:nvSpPr>
          <p:cNvPr id="41" name="s5-sale-highlight">
            <a:extLst xmlns:a="http://schemas.openxmlformats.org/drawingml/2006/main">
              <a:ext uri="{FF2B5EF4-FFF2-40B4-BE49-F238E27FC236}">
                <a16:creationId xmlns:a16="http://schemas.microsoft.com/office/drawing/2014/main" id="{5C56CD74-5C81-4DAA-A76A-914AAEBA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00550"/>
            <a:ext cx="48577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5-sale-model-2">
            <a:extLst xmlns:a="http://schemas.openxmlformats.org/drawingml/2006/main">
              <a:ext uri="{FF2B5EF4-FFF2-40B4-BE49-F238E27FC236}">
                <a16:creationId xmlns:a16="http://schemas.microsoft.com/office/drawing/2014/main" id="{BBC11F4C-8FFE-44AB-9ED6-827E57DB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862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rPr>
              <a:t>Random Forest</a:t>
            </a:r>
          </a:p>
        </p:txBody>
      </p:sp>
      <p:sp>
        <p:nvSpPr>
          <p:cNvPr id="43" name="s5-sale-mae-2">
            <a:extLst xmlns:a="http://schemas.openxmlformats.org/drawingml/2006/main">
              <a:ext uri="{FF2B5EF4-FFF2-40B4-BE49-F238E27FC236}">
                <a16:creationId xmlns:a16="http://schemas.microsoft.com/office/drawing/2014/main" id="{B4CAA922-7536-481F-9C95-D4BD664C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48627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7.17</a:t>
            </a:r>
          </a:p>
        </p:txBody>
      </p:sp>
      <p:sp>
        <p:nvSpPr>
          <p:cNvPr id="44" name="s5-sale-rmse-2">
            <a:extLst xmlns:a="http://schemas.openxmlformats.org/drawingml/2006/main">
              <a:ext uri="{FF2B5EF4-FFF2-40B4-BE49-F238E27FC236}">
                <a16:creationId xmlns:a16="http://schemas.microsoft.com/office/drawing/2014/main" id="{9492A3BB-5C22-4969-B0C6-929A1366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4862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 i="0">
                <a:solidFill>
                  <a:srgbClr val="1A1A1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10.07</a:t>
            </a:r>
          </a:p>
        </p:txBody>
      </p:sp>
      <p:sp>
        <p:nvSpPr>
          <p:cNvPr id="45" name="s5-sale-samples">
            <a:extLst xmlns:a="http://schemas.openxmlformats.org/drawingml/2006/main">
              <a:ext uri="{FF2B5EF4-FFF2-40B4-BE49-F238E27FC236}">
                <a16:creationId xmlns:a16="http://schemas.microsoft.com/office/drawing/2014/main" id="{28925B8F-2EEA-4EF4-AFC2-A8DB326B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95875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pPr>
            <a:r>
              <a:rPr sz="90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rPr>
              <a:t>訓練 33,345 筆　／　測試 8,337 筆</a:t>
            </a:r>
          </a:p>
        </p:txBody>
      </p:sp>
      <p:sp>
        <p:nvSpPr>
          <p:cNvPr id="46" name="s5-takeaway">
            <a:extLst xmlns:a="http://schemas.openxmlformats.org/drawingml/2006/main">
              <a:ext uri="{FF2B5EF4-FFF2-40B4-BE49-F238E27FC236}">
                <a16:creationId xmlns:a16="http://schemas.microsoft.com/office/drawing/2014/main" id="{9454F8DE-2719-4873-9973-EF649317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782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5-takeaway-text">
            <a:extLst xmlns:a="http://schemas.openxmlformats.org/drawingml/2006/main">
              <a:ext uri="{FF2B5EF4-FFF2-40B4-BE49-F238E27FC236}">
                <a16:creationId xmlns:a16="http://schemas.microsoft.com/office/drawing/2014/main" id="{F2ABF76E-3CA2-4294-88C3-5F5AEAD9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defPPr>
            <a:lvl1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1pPr>
            <a:lvl2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2pPr>
            <a:lvl3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3pPr>
            <a:lvl4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4pPr>
            <a:lvl5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5pPr>
            <a:lvl6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6pPr>
            <a:lvl7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7pPr>
            <a:lvl8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8pPr>
            <a:lvl9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ctr">
              <a:def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pPr>
            <a:r>
              <a:rPr sz="1275" b="1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rPr>
              <a:t>相對中位數基準，Random Forest 的 MAE 降低：租金 61%　／　售價 49%　｜　越低越好</a:t>
            </a:r>
          </a:p>
        </p:txBody>
      </p:sp>
    </p:spTree>
    <p:extLst>
      <p:ext uri="{BB962C8B-B14F-4D97-AF65-F5344CB8AC3E}">
        <p14:creationId xmlns:p14="http://schemas.microsoft.com/office/powerpoint/2010/main" val="2075556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0EB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6">
            <a:extLst xmlns:a="http://schemas.openxmlformats.org/drawingml/2006/main">
              <a:ext uri="{FF2B5EF4-FFF2-40B4-BE49-F238E27FC236}">
                <a16:creationId xmlns:a16="http://schemas.microsoft.com/office/drawing/2014/main" id="{40505654-E147-45F7-9B02-CC4CE504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05　決策公式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9352CA38-5AC1-43CC-A1E4-695B9EDF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48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06  /  09   ·   02:00</a:t>
            </a:r>
          </a:p>
        </p:txBody>
      </p:sp>
      <p:sp>
        <p:nvSpPr>
          <p:cNvPr id="3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B75E8D2B-737B-407F-9274-4840F691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E37CE4C4-D234-45D2-BDAE-7BA85F40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-6">
            <a:extLst xmlns:a="http://schemas.openxmlformats.org/drawingml/2006/main">
              <a:ext uri="{FF2B5EF4-FFF2-40B4-BE49-F238E27FC236}">
                <a16:creationId xmlns:a16="http://schemas.microsoft.com/office/drawing/2014/main" id="{FBC5F43E-14F1-4945-BF5E-583F1F0E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同一間房，賣掉還是出租？</a:t>
            </a:r>
          </a:p>
        </p:txBody>
      </p:sp>
      <p:sp>
        <p:nvSpPr>
          <p:cNvPr id="6" name="footer-time-6">
            <a:extLst xmlns:a="http://schemas.openxmlformats.org/drawingml/2006/main">
              <a:ext uri="{FF2B5EF4-FFF2-40B4-BE49-F238E27FC236}">
                <a16:creationId xmlns:a16="http://schemas.microsoft.com/office/drawing/2014/main" id="{AF2D6756-5F37-4737-AD83-345A0E04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43675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15 分鐘專題報告</a:t>
            </a:r>
          </a:p>
        </p:txBody>
      </p:sp>
      <p:sp>
        <p:nvSpPr>
          <p:cNvPr id="7" name="s6-kicker">
            <a:extLst xmlns:a="http://schemas.openxmlformats.org/drawingml/2006/main">
              <a:ext uri="{FF2B5EF4-FFF2-40B4-BE49-F238E27FC236}">
                <a16:creationId xmlns:a16="http://schemas.microsoft.com/office/drawing/2014/main" id="{16D2FFA9-E16B-47C4-90BE-9C5A3610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429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所有金額換算成第 N 年資產　／　賣與租同口徑</a:t>
            </a:r>
          </a:p>
        </p:txBody>
      </p:sp>
      <p:sp>
        <p:nvSpPr>
          <p:cNvPr id="8" name="s6-title">
            <a:extLst xmlns:a="http://schemas.openxmlformats.org/drawingml/2006/main">
              <a:ext uri="{FF2B5EF4-FFF2-40B4-BE49-F238E27FC236}">
                <a16:creationId xmlns:a16="http://schemas.microsoft.com/office/drawing/2014/main" id="{5A3185EC-67B3-4EB1-A2BE-BE952E8B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defPPr>
            <a:lvl1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  <a:lvl2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2pPr>
            <a:lvl3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3pPr>
            <a:lvl4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4pPr>
            <a:lvl5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5pPr>
            <a:lvl6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6pPr>
            <a:lvl7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7pPr>
            <a:lvl8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8pPr>
            <a:lvl9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9pPr>
          </a:lstStyle>
          <a:p xmlns:a="http://schemas.openxmlformats.org/drawingml/2006/main">
            <a: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pPr>
            <a:r>
              <a: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rPr>
              <a:t>持有成本、貸款和兩次出售稅費都要算</a:t>
            </a:r>
          </a:p>
        </p:txBody>
      </p:sp>
      <p:sp>
        <p:nvSpPr>
          <p:cNvPr id="9" name="s6-a-rule">
            <a:extLst xmlns:a="http://schemas.openxmlformats.org/drawingml/2006/main">
              <a:ext uri="{FF2B5EF4-FFF2-40B4-BE49-F238E27FC236}">
                <a16:creationId xmlns:a16="http://schemas.microsoft.com/office/drawing/2014/main" id="{C07CD2A3-1328-4E11-A099-A5C2A246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6-b-rule">
            <a:extLst xmlns:a="http://schemas.openxmlformats.org/drawingml/2006/main">
              <a:ext uri="{FF2B5EF4-FFF2-40B4-BE49-F238E27FC236}">
                <a16:creationId xmlns:a16="http://schemas.microsoft.com/office/drawing/2014/main" id="{7A6D4D22-AAC9-4201-B6FB-BD887AF1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5265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23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6-a-label">
            <a:extLst xmlns:a="http://schemas.openxmlformats.org/drawingml/2006/main">
              <a:ext uri="{FF2B5EF4-FFF2-40B4-BE49-F238E27FC236}">
                <a16:creationId xmlns:a16="http://schemas.microsoft.com/office/drawing/2014/main" id="{C8E24FAE-1001-4341-AAE2-9E4A81FB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35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A　現在賣，投資售屋淨額</a:t>
            </a:r>
          </a:p>
        </p:txBody>
      </p:sp>
      <p:sp>
        <p:nvSpPr>
          <p:cNvPr id="12" name="s6-a-formula">
            <a:extLst xmlns:a="http://schemas.openxmlformats.org/drawingml/2006/main">
              <a:ext uri="{FF2B5EF4-FFF2-40B4-BE49-F238E27FC236}">
                <a16:creationId xmlns:a16="http://schemas.microsoft.com/office/drawing/2014/main" id="{6952F048-5AC2-4AAB-885E-3BF1D361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Aₙ = (P₀ − 交易費₀ − 售屋稅₀</a:t>
            </a:r>
          </a:p>
          <a:p xmlns:a="http://schemas.openxmlformats.org/drawingml/2006/main">
            <a:pPr algn="l">
              <a:def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575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− 貸款餘額₀) × (1+r)ᴺ</a:t>
            </a:r>
          </a:p>
        </p:txBody>
      </p:sp>
      <p:sp>
        <p:nvSpPr>
          <p:cNvPr id="13" name="s6-a-desc">
            <a:extLst xmlns:a="http://schemas.openxmlformats.org/drawingml/2006/main">
              <a:ext uri="{FF2B5EF4-FFF2-40B4-BE49-F238E27FC236}">
                <a16:creationId xmlns:a16="http://schemas.microsoft.com/office/drawing/2014/main" id="{CFEAA02B-9B03-45D9-B116-F767A98B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997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售屋稅含適用的房地合一所得稅、</a:t>
            </a:r>
          </a:p>
          <a:p xmlns:a="http://schemas.openxmlformats.org/drawingml/2006/main">
            <a: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土地增值稅等個別估算。</a:t>
            </a:r>
          </a:p>
        </p:txBody>
      </p:sp>
      <p:sp>
        <p:nvSpPr>
          <p:cNvPr id="14" name="s6-b-label">
            <a:extLst xmlns:a="http://schemas.openxmlformats.org/drawingml/2006/main">
              <a:ext uri="{FF2B5EF4-FFF2-40B4-BE49-F238E27FC236}">
                <a16:creationId xmlns:a16="http://schemas.microsoft.com/office/drawing/2014/main" id="{1883EEEA-2710-4038-9397-E1DB6367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43150"/>
            <a:ext cx="452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3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3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3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3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3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3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3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3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3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pPr>
            <a:r>
              <a:rPr sz="13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rPr>
              <a:t>B　持有出租，期末再出售</a:t>
            </a:r>
          </a:p>
        </p:txBody>
      </p:sp>
      <p:sp>
        <p:nvSpPr>
          <p:cNvPr id="15" name="s6-b-formula">
            <a:extLst xmlns:a="http://schemas.openxmlformats.org/drawingml/2006/main">
              <a:ext uri="{FF2B5EF4-FFF2-40B4-BE49-F238E27FC236}">
                <a16:creationId xmlns:a16="http://schemas.microsoft.com/office/drawing/2014/main" id="{651FA396-720F-4D34-9BBA-C5BB31B5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14625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5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5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5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5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5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5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5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5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5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5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Bₙ = 淨租金逐年複利 + P₀(1+g)ᴺ</a:t>
            </a:r>
          </a:p>
          <a:p xmlns:a="http://schemas.openxmlformats.org/drawingml/2006/main">
            <a:pPr algn="l">
              <a:defRPr sz="15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500" b="0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− 期末交易費 − 售屋稅 − 剩餘貸款</a:t>
            </a:r>
          </a:p>
        </p:txBody>
      </p:sp>
      <p:sp>
        <p:nvSpPr>
          <p:cNvPr id="16" name="s6-b-desc">
            <a:extLst xmlns:a="http://schemas.openxmlformats.org/drawingml/2006/main">
              <a:ext uri="{FF2B5EF4-FFF2-40B4-BE49-F238E27FC236}">
                <a16:creationId xmlns:a16="http://schemas.microsoft.com/office/drawing/2014/main" id="{78A04B5A-3979-427B-AFB0-FA4BA82A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09975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g 是房價情境，不是房價預測；</a:t>
            </a:r>
          </a:p>
          <a:p xmlns:a="http://schemas.openxmlformats.org/drawingml/2006/main">
            <a:pPr algn="l">
              <a:def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每年租金與支出另按輸入值計。</a:t>
            </a:r>
          </a:p>
        </p:txBody>
      </p:sp>
      <p:sp>
        <p:nvSpPr>
          <p:cNvPr id="17" name="s6-cost-band">
            <a:extLst xmlns:a="http://schemas.openxmlformats.org/drawingml/2006/main">
              <a:ext uri="{FF2B5EF4-FFF2-40B4-BE49-F238E27FC236}">
                <a16:creationId xmlns:a16="http://schemas.microsoft.com/office/drawing/2014/main" id="{2D74E57D-51BC-4FA0-8068-67867B82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107823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cost-title">
            <a:extLst xmlns:a="http://schemas.openxmlformats.org/drawingml/2006/main">
              <a:ext uri="{FF2B5EF4-FFF2-40B4-BE49-F238E27FC236}">
                <a16:creationId xmlns:a16="http://schemas.microsoft.com/office/drawing/2014/main" id="{2A2BC394-BCCD-4B66-B54F-59B27459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pPr>
            <a:r>
              <a: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rPr>
              <a:t>出租的年度淨現金流會扣除</a:t>
            </a:r>
          </a:p>
        </p:txBody>
      </p:sp>
      <p:sp>
        <p:nvSpPr>
          <p:cNvPr id="19" name="s6-cost-0-label">
            <a:extLst xmlns:a="http://schemas.openxmlformats.org/drawingml/2006/main">
              <a:ext uri="{FF2B5EF4-FFF2-40B4-BE49-F238E27FC236}">
                <a16:creationId xmlns:a16="http://schemas.microsoft.com/office/drawing/2014/main" id="{C27F7BEB-E601-4B39-BAFC-FCD72470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空置損失</a:t>
            </a:r>
          </a:p>
        </p:txBody>
      </p:sp>
      <p:sp>
        <p:nvSpPr>
          <p:cNvPr id="20" name="s6-cost-0-detail">
            <a:extLst xmlns:a="http://schemas.openxmlformats.org/drawingml/2006/main">
              <a:ext uri="{FF2B5EF4-FFF2-40B4-BE49-F238E27FC236}">
                <a16:creationId xmlns:a16="http://schemas.microsoft.com/office/drawing/2014/main" id="{55599EB0-AE1F-4251-BA43-3BAFB038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86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pPr>
            <a:r>
              <a: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rPr>
              <a:t>出租率 / 租金成長</a:t>
            </a:r>
          </a:p>
        </p:txBody>
      </p:sp>
      <p:sp>
        <p:nvSpPr>
          <p:cNvPr id="21" name="s6-cost-1-label">
            <a:extLst xmlns:a="http://schemas.openxmlformats.org/drawingml/2006/main">
              <a:ext uri="{FF2B5EF4-FFF2-40B4-BE49-F238E27FC236}">
                <a16:creationId xmlns:a16="http://schemas.microsoft.com/office/drawing/2014/main" id="{5D813B92-EE1F-4CBB-A1FF-B05FE909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911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房屋稅、地價稅</a:t>
            </a:r>
          </a:p>
        </p:txBody>
      </p:sp>
      <p:sp>
        <p:nvSpPr>
          <p:cNvPr id="22" name="s6-cost-1-detail">
            <a:extLst xmlns:a="http://schemas.openxmlformats.org/drawingml/2006/main">
              <a:ext uri="{FF2B5EF4-FFF2-40B4-BE49-F238E27FC236}">
                <a16:creationId xmlns:a16="http://schemas.microsoft.com/office/drawing/2014/main" id="{A7B891C7-C1AB-401C-973C-95A86DE3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286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pPr>
            <a:r>
              <a: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rPr>
              <a:t>按實際稅單輸入</a:t>
            </a:r>
          </a:p>
        </p:txBody>
      </p:sp>
      <p:sp>
        <p:nvSpPr>
          <p:cNvPr id="23" name="s6-cost-2-label">
            <a:extLst xmlns:a="http://schemas.openxmlformats.org/drawingml/2006/main">
              <a:ext uri="{FF2B5EF4-FFF2-40B4-BE49-F238E27FC236}">
                <a16:creationId xmlns:a16="http://schemas.microsoft.com/office/drawing/2014/main" id="{15FB6C2D-E4D9-40E7-BEA1-2C41CCC7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911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租賃所得稅</a:t>
            </a:r>
          </a:p>
        </p:txBody>
      </p:sp>
      <p:sp>
        <p:nvSpPr>
          <p:cNvPr id="24" name="s6-cost-2-detail">
            <a:extLst xmlns:a="http://schemas.openxmlformats.org/drawingml/2006/main">
              <a:ext uri="{FF2B5EF4-FFF2-40B4-BE49-F238E27FC236}">
                <a16:creationId xmlns:a16="http://schemas.microsoft.com/office/drawing/2014/main" id="{C1C7732E-864A-42D8-9392-F40926BC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86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pPr>
            <a:r>
              <a: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rPr>
              <a:t>按個人稅務估算</a:t>
            </a:r>
          </a:p>
        </p:txBody>
      </p:sp>
      <p:sp>
        <p:nvSpPr>
          <p:cNvPr id="25" name="s6-cost-3-label">
            <a:extLst xmlns:a="http://schemas.openxmlformats.org/drawingml/2006/main">
              <a:ext uri="{FF2B5EF4-FFF2-40B4-BE49-F238E27FC236}">
                <a16:creationId xmlns:a16="http://schemas.microsoft.com/office/drawing/2014/main" id="{E7237FA8-182C-4FC0-9448-A4408746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911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管理、維修、保險、貸款</a:t>
            </a:r>
          </a:p>
        </p:txBody>
      </p:sp>
      <p:sp>
        <p:nvSpPr>
          <p:cNvPr id="26" name="s6-cost-3-detail">
            <a:extLst xmlns:a="http://schemas.openxmlformats.org/drawingml/2006/main">
              <a:ext uri="{FF2B5EF4-FFF2-40B4-BE49-F238E27FC236}">
                <a16:creationId xmlns:a16="http://schemas.microsoft.com/office/drawing/2014/main" id="{1339189C-1540-4694-BB7C-EEAD669F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286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pPr>
            <a:r>
              <a: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rPr>
              <a:t>本息支出；期末扣剩餘本金</a:t>
            </a:r>
          </a:p>
        </p:txBody>
      </p:sp>
      <p:sp>
        <p:nvSpPr>
          <p:cNvPr id="27" name="s6-tax-note">
            <a:extLst xmlns:a="http://schemas.openxmlformats.org/drawingml/2006/main">
              <a:ext uri="{FF2B5EF4-FFF2-40B4-BE49-F238E27FC236}">
                <a16:creationId xmlns:a16="http://schemas.microsoft.com/office/drawing/2014/main" id="{4B0459BF-EB0B-4AFC-A5B2-6DD3EEDA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1074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defPPr>
            <a:lvl1pPr algn="ctr">
              <a:defRPr sz="9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1pPr>
            <a:lvl2pPr algn="ctr">
              <a:defRPr sz="9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2pPr>
            <a:lvl3pPr algn="ctr">
              <a:defRPr sz="9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3pPr>
            <a:lvl4pPr algn="ctr">
              <a:defRPr sz="9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4pPr>
            <a:lvl5pPr algn="ctr">
              <a:defRPr sz="9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5pPr>
            <a:lvl6pPr algn="ctr">
              <a:defRPr sz="9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6pPr>
            <a:lvl7pPr algn="ctr">
              <a:defRPr sz="9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7pPr>
            <a:lvl8pPr algn="ctr">
              <a:defRPr sz="9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8pPr>
            <a:lvl9pPr algn="ctr">
              <a:defRPr sz="9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ctr">
              <a:defRPr sz="9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9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房屋稅、地價稅與售屋稅都依房屋、土地、持有情況不同；用稅單或稅務估算，不套單一稅率。</a:t>
            </a:r>
          </a:p>
        </p:txBody>
      </p:sp>
    </p:spTree>
    <p:extLst>
      <p:ext uri="{BB962C8B-B14F-4D97-AF65-F5344CB8AC3E}">
        <p14:creationId xmlns:p14="http://schemas.microsoft.com/office/powerpoint/2010/main" val="2233364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7">
            <a:extLst xmlns:a="http://schemas.openxmlformats.org/drawingml/2006/main">
              <a:ext uri="{FF2B5EF4-FFF2-40B4-BE49-F238E27FC236}">
                <a16:creationId xmlns:a16="http://schemas.microsoft.com/office/drawing/2014/main" id="{6BA0CF01-9F03-4B96-AFE2-3697AB62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06　模型案例與輸入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CFA91434-D820-42A8-9670-B09029C6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48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07  /  09   ·   02:00</a:t>
            </a:r>
          </a:p>
        </p:txBody>
      </p:sp>
      <p:sp>
        <p:nvSpPr>
          <p:cNvPr id="3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C7E43686-AE30-4CE8-8905-C3518691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6C3E41D1-DFB6-40CB-A96A-FB873147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-7">
            <a:extLst xmlns:a="http://schemas.openxmlformats.org/drawingml/2006/main">
              <a:ext uri="{FF2B5EF4-FFF2-40B4-BE49-F238E27FC236}">
                <a16:creationId xmlns:a16="http://schemas.microsoft.com/office/drawing/2014/main" id="{56EB5846-B498-4CC3-AB9B-426C60C7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同一間房，賣掉還是出租？</a:t>
            </a:r>
          </a:p>
        </p:txBody>
      </p:sp>
      <p:sp>
        <p:nvSpPr>
          <p:cNvPr id="6" name="footer-time-7">
            <a:extLst xmlns:a="http://schemas.openxmlformats.org/drawingml/2006/main">
              <a:ext uri="{FF2B5EF4-FFF2-40B4-BE49-F238E27FC236}">
                <a16:creationId xmlns:a16="http://schemas.microsoft.com/office/drawing/2014/main" id="{0F1147DB-F140-4FD4-A35C-AC2C4A80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43675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15 分鐘專題報告</a:t>
            </a:r>
          </a:p>
        </p:txBody>
      </p:sp>
      <p:sp>
        <p:nvSpPr>
          <p:cNvPr id="7" name="s7-kicker">
            <a:extLst xmlns:a="http://schemas.openxmlformats.org/drawingml/2006/main">
              <a:ext uri="{FF2B5EF4-FFF2-40B4-BE49-F238E27FC236}">
                <a16:creationId xmlns:a16="http://schemas.microsoft.com/office/drawing/2014/main" id="{CF98A2A7-8131-4231-BCD8-F1313CC7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334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pPr>
            <a:r>
              <a: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rPr>
              <a:t>同一間板橋假設大樓　／　售價與租金是 Random Forest 預測</a:t>
            </a:r>
          </a:p>
        </p:txBody>
      </p:sp>
      <p:sp>
        <p:nvSpPr>
          <p:cNvPr id="8" name="s7-title">
            <a:extLst xmlns:a="http://schemas.openxmlformats.org/drawingml/2006/main">
              <a:ext uri="{FF2B5EF4-FFF2-40B4-BE49-F238E27FC236}">
                <a16:creationId xmlns:a16="http://schemas.microsoft.com/office/drawing/2014/main" id="{C74271F8-B690-444E-A527-B7E443D7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52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defPPr>
            <a:lvl1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  <a:lvl2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2pPr>
            <a:lvl3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3pPr>
            <a:lvl4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4pPr>
            <a:lvl5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5pPr>
            <a:lvl6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6pPr>
            <a:lvl7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7pPr>
            <a:lvl8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8pPr>
            <a:lvl9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9pPr>
          </a:lstStyle>
          <a:p xmlns:a="http://schemas.openxmlformats.org/drawingml/2006/main">
            <a: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pPr>
            <a:r>
              <a: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rPr>
              <a:t>先用模型估值，再把費用逐筆放進去</a:t>
            </a:r>
          </a:p>
        </p:txBody>
      </p:sp>
      <p:sp>
        <p:nvSpPr>
          <p:cNvPr id="9" name="s7-left-rule">
            <a:extLst xmlns:a="http://schemas.openxmlformats.org/drawingml/2006/main">
              <a:ext uri="{FF2B5EF4-FFF2-40B4-BE49-F238E27FC236}">
                <a16:creationId xmlns:a16="http://schemas.microsoft.com/office/drawing/2014/main" id="{B0857F13-7E35-4A2E-A19E-B2BEB279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7-right-rule">
            <a:extLst xmlns:a="http://schemas.openxmlformats.org/drawingml/2006/main">
              <a:ext uri="{FF2B5EF4-FFF2-40B4-BE49-F238E27FC236}">
                <a16:creationId xmlns:a16="http://schemas.microsoft.com/office/drawing/2014/main" id="{F8C53DAF-F4F5-4F78-B6CF-3D85F93B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28825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23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7-sale-big">
            <a:extLst xmlns:a="http://schemas.openxmlformats.org/drawingml/2006/main">
              <a:ext uri="{FF2B5EF4-FFF2-40B4-BE49-F238E27FC236}">
                <a16:creationId xmlns:a16="http://schemas.microsoft.com/office/drawing/2014/main" id="{F80ECEA0-8DDF-47AC-A4D2-D43E8ABE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39"/>
          </a:bodyPr>
          <a:lstStyle xmlns:a="http://schemas.openxmlformats.org/drawingml/2006/main">
            <a:defPPr algn="l">
              <a:defRPr sz="36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defPPr>
            <a:lvl1pPr algn="l">
              <a:defRPr sz="36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  <a:lvl2pPr algn="l">
              <a:defRPr sz="36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2pPr>
            <a:lvl3pPr algn="l">
              <a:defRPr sz="36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3pPr>
            <a:lvl4pPr algn="l">
              <a:defRPr sz="36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4pPr>
            <a:lvl5pPr algn="l">
              <a:defRPr sz="36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5pPr>
            <a:lvl6pPr algn="l">
              <a:defRPr sz="36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6pPr>
            <a:lvl7pPr algn="l">
              <a:defRPr sz="36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7pPr>
            <a:lvl8pPr algn="l">
              <a:defRPr sz="36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8pPr>
            <a:lvl9pPr algn="l">
              <a:defRPr sz="36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9pPr>
          </a:lstStyle>
          <a:p xmlns:a="http://schemas.openxmlformats.org/drawingml/2006/main">
            <a:pPr algn="l">
              <a:defRPr sz="36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pPr>
            <a:r>
              <a:rPr sz="3675" b="0" i="0">
                <a:solidFill>
                  <a:srgbClr val="1A1A1A"/>
                </a:solidFill>
                <a:latin typeface="Garamond"/>
                <a:ea typeface="Garamond"/>
                <a:cs typeface="Garamond"/>
              </a:rPr>
              <a:t>1,788.3 萬</a:t>
            </a:r>
          </a:p>
        </p:txBody>
      </p:sp>
      <p:sp>
        <p:nvSpPr>
          <p:cNvPr id="12" name="s7-sale-caption">
            <a:extLst xmlns:a="http://schemas.openxmlformats.org/drawingml/2006/main">
              <a:ext uri="{FF2B5EF4-FFF2-40B4-BE49-F238E27FC236}">
                <a16:creationId xmlns:a16="http://schemas.microsoft.com/office/drawing/2014/main" id="{973ACFFF-1E70-4AD6-B2CA-A72B326D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預測售價　59.61 萬/坪</a:t>
            </a:r>
          </a:p>
        </p:txBody>
      </p:sp>
      <p:sp>
        <p:nvSpPr>
          <p:cNvPr id="13" name="s7-sale-error">
            <a:extLst xmlns:a="http://schemas.openxmlformats.org/drawingml/2006/main">
              <a:ext uri="{FF2B5EF4-FFF2-40B4-BE49-F238E27FC236}">
                <a16:creationId xmlns:a16="http://schemas.microsoft.com/office/drawing/2014/main" id="{5E6105E6-3B9A-45FA-A927-13093DAF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481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pPr>
            <a:r>
              <a: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rPr>
              <a:t>測試集 MAE 換算 30 坪：約 215 萬</a:t>
            </a:r>
          </a:p>
        </p:txBody>
      </p:sp>
      <p:sp>
        <p:nvSpPr>
          <p:cNvPr id="14" name="s7-rent-big">
            <a:extLst xmlns:a="http://schemas.openxmlformats.org/drawingml/2006/main">
              <a:ext uri="{FF2B5EF4-FFF2-40B4-BE49-F238E27FC236}">
                <a16:creationId xmlns:a16="http://schemas.microsoft.com/office/drawing/2014/main" id="{5B68EA3F-999A-4DAD-B14B-377BEB61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288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defPPr>
            <a:lvl1pPr algn="l">
              <a:defRPr sz="3225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lvl1pPr>
            <a:lvl2pPr algn="l">
              <a:defRPr sz="3225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lvl2pPr>
            <a:lvl3pPr algn="l">
              <a:defRPr sz="3225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lvl3pPr>
            <a:lvl4pPr algn="l">
              <a:defRPr sz="3225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lvl4pPr>
            <a:lvl5pPr algn="l">
              <a:defRPr sz="3225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lvl5pPr>
            <a:lvl6pPr algn="l">
              <a:defRPr sz="3225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lvl6pPr>
            <a:lvl7pPr algn="l">
              <a:defRPr sz="3225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lvl7pPr>
            <a:lvl8pPr algn="l">
              <a:defRPr sz="3225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lvl8pPr>
            <a:lvl9pPr algn="l">
              <a:defRPr sz="3225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lvl9pPr>
          </a:lstStyle>
          <a:p xmlns:a="http://schemas.openxmlformats.org/drawingml/2006/main">
            <a:pPr algn="l">
              <a:defRPr sz="3225" b="0" i="0">
                <a:solidFill>
                  <a:srgbClr val="A42336"/>
                </a:solidFill>
                <a:latin typeface="Garamond"/>
                <a:ea typeface="Garamond"/>
                <a:cs typeface="Garamond"/>
              </a:defRPr>
            </a:pPr>
            <a:r>
              <a:rPr sz="3225" b="0" i="0">
                <a:solidFill>
                  <a:srgbClr val="A42336"/>
                </a:solidFill>
                <a:latin typeface="Garamond"/>
                <a:ea typeface="Garamond"/>
                <a:cs typeface="Garamond"/>
              </a:rPr>
              <a:t>26,682 元 / 月</a:t>
            </a:r>
          </a:p>
        </p:txBody>
      </p:sp>
      <p:sp>
        <p:nvSpPr>
          <p:cNvPr id="15" name="s7-rent-caption">
            <a:extLst xmlns:a="http://schemas.openxmlformats.org/drawingml/2006/main">
              <a:ext uri="{FF2B5EF4-FFF2-40B4-BE49-F238E27FC236}">
                <a16:creationId xmlns:a16="http://schemas.microsoft.com/office/drawing/2014/main" id="{769D5C79-CC5E-4C5C-B134-21FA564A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289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275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預測租金　889.40 元/月/坪</a:t>
            </a:r>
          </a:p>
        </p:txBody>
      </p:sp>
      <p:sp>
        <p:nvSpPr>
          <p:cNvPr id="16" name="s7-rent-error">
            <a:extLst xmlns:a="http://schemas.openxmlformats.org/drawingml/2006/main">
              <a:ext uri="{FF2B5EF4-FFF2-40B4-BE49-F238E27FC236}">
                <a16:creationId xmlns:a16="http://schemas.microsoft.com/office/drawing/2014/main" id="{71F54347-2E12-4629-9671-6DF02EEB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71825"/>
            <a:ext cx="4810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pPr>
            <a:r>
              <a:rPr sz="975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rPr>
              <a:t>測試集 MAE 換算 30 坪：約 4,190 元/月</a:t>
            </a:r>
          </a:p>
        </p:txBody>
      </p:sp>
      <p:sp>
        <p:nvSpPr>
          <p:cNvPr id="17" name="s7-assumptions">
            <a:extLst xmlns:a="http://schemas.openxmlformats.org/drawingml/2006/main">
              <a:ext uri="{FF2B5EF4-FFF2-40B4-BE49-F238E27FC236}">
                <a16:creationId xmlns:a16="http://schemas.microsoft.com/office/drawing/2014/main" id="{4863475C-F36F-43B2-81D7-407B0571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10782300" cy="2314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7-assumption-title">
            <a:extLst xmlns:a="http://schemas.openxmlformats.org/drawingml/2006/main">
              <a:ext uri="{FF2B5EF4-FFF2-40B4-BE49-F238E27FC236}">
                <a16:creationId xmlns:a16="http://schemas.microsoft.com/office/drawing/2014/main" id="{E301EDB1-66DD-4986-A3B8-B4AC3F39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876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pPr>
            <a:r>
              <a:rPr sz="12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rPr>
              <a:t>10 年試算輸入　／　全是假設值；正式報告應換成屋主稅單與貸款資料</a:t>
            </a:r>
          </a:p>
        </p:txBody>
      </p:sp>
      <p:sp>
        <p:nvSpPr>
          <p:cNvPr id="19" name="s7-input-0-label">
            <a:extLst xmlns:a="http://schemas.openxmlformats.org/drawingml/2006/main">
              <a:ext uri="{FF2B5EF4-FFF2-40B4-BE49-F238E27FC236}">
                <a16:creationId xmlns:a16="http://schemas.microsoft.com/office/drawing/2014/main" id="{D8B89310-DA19-4589-9D5D-7E6B20F5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年度稅費</a:t>
            </a:r>
          </a:p>
        </p:txBody>
      </p:sp>
      <p:sp>
        <p:nvSpPr>
          <p:cNvPr id="20" name="s7-input-0-desc">
            <a:extLst xmlns:a="http://schemas.openxmlformats.org/drawingml/2006/main">
              <a:ext uri="{FF2B5EF4-FFF2-40B4-BE49-F238E27FC236}">
                <a16:creationId xmlns:a16="http://schemas.microsoft.com/office/drawing/2014/main" id="{0E4770A7-AD7F-47F4-BEF9-CB2C4272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767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房屋稅＋地價稅 4 萬</a:t>
            </a:r>
          </a:p>
          <a:p xmlns:a="http://schemas.openxmlformats.org/drawingml/2006/main">
            <a: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租賃所得稅 2 萬</a:t>
            </a:r>
          </a:p>
        </p:txBody>
      </p:sp>
      <p:sp>
        <p:nvSpPr>
          <p:cNvPr id="21" name="s7-divider-1">
            <a:extLst xmlns:a="http://schemas.openxmlformats.org/drawingml/2006/main">
              <a:ext uri="{FF2B5EF4-FFF2-40B4-BE49-F238E27FC236}">
                <a16:creationId xmlns:a16="http://schemas.microsoft.com/office/drawing/2014/main" id="{E728733B-5EEA-498F-A17E-FF3D31DF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10050"/>
            <a:ext cx="95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7-input-1-label">
            <a:extLst xmlns:a="http://schemas.openxmlformats.org/drawingml/2006/main">
              <a:ext uri="{FF2B5EF4-FFF2-40B4-BE49-F238E27FC236}">
                <a16:creationId xmlns:a16="http://schemas.microsoft.com/office/drawing/2014/main" id="{CFAE2A94-360D-49B0-9C6D-BE286F30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624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出租成本</a:t>
            </a:r>
          </a:p>
        </p:txBody>
      </p:sp>
      <p:sp>
        <p:nvSpPr>
          <p:cNvPr id="23" name="s7-input-1-desc">
            <a:extLst xmlns:a="http://schemas.openxmlformats.org/drawingml/2006/main">
              <a:ext uri="{FF2B5EF4-FFF2-40B4-BE49-F238E27FC236}">
                <a16:creationId xmlns:a16="http://schemas.microsoft.com/office/drawing/2014/main" id="{795865EE-FE39-40FA-97ED-3931FFFA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767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空置 5%</a:t>
            </a:r>
          </a:p>
          <a:p xmlns:a="http://schemas.openxmlformats.org/drawingml/2006/main">
            <a: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管理維修保險 6 萬/年</a:t>
            </a:r>
          </a:p>
        </p:txBody>
      </p:sp>
      <p:sp>
        <p:nvSpPr>
          <p:cNvPr id="24" name="s7-divider-2">
            <a:extLst xmlns:a="http://schemas.openxmlformats.org/drawingml/2006/main">
              <a:ext uri="{FF2B5EF4-FFF2-40B4-BE49-F238E27FC236}">
                <a16:creationId xmlns:a16="http://schemas.microsoft.com/office/drawing/2014/main" id="{BF5D40F5-E42F-4A77-BCA6-665C34BB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10050"/>
            <a:ext cx="95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7-input-2-label">
            <a:extLst xmlns:a="http://schemas.openxmlformats.org/drawingml/2006/main">
              <a:ext uri="{FF2B5EF4-FFF2-40B4-BE49-F238E27FC236}">
                <a16:creationId xmlns:a16="http://schemas.microsoft.com/office/drawing/2014/main" id="{69A53C7E-81D9-4F44-86C1-242B8F08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624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出售成本與稅</a:t>
            </a:r>
          </a:p>
        </p:txBody>
      </p:sp>
      <p:sp>
        <p:nvSpPr>
          <p:cNvPr id="26" name="s7-input-2-desc">
            <a:extLst xmlns:a="http://schemas.openxmlformats.org/drawingml/2006/main">
              <a:ext uri="{FF2B5EF4-FFF2-40B4-BE49-F238E27FC236}">
                <a16:creationId xmlns:a16="http://schemas.microsoft.com/office/drawing/2014/main" id="{1A6E90D2-D43C-4C63-8682-C0670BB2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767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交易費 4%</a:t>
            </a:r>
          </a:p>
          <a:p xmlns:a="http://schemas.openxmlformats.org/drawingml/2006/main">
            <a: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現在售屋稅 45 萬；期末 60 萬</a:t>
            </a:r>
          </a:p>
        </p:txBody>
      </p:sp>
      <p:sp>
        <p:nvSpPr>
          <p:cNvPr id="27" name="s7-divider-3">
            <a:extLst xmlns:a="http://schemas.openxmlformats.org/drawingml/2006/main">
              <a:ext uri="{FF2B5EF4-FFF2-40B4-BE49-F238E27FC236}">
                <a16:creationId xmlns:a16="http://schemas.microsoft.com/office/drawing/2014/main" id="{E935CC0E-AC7D-4DB9-B1F7-71BC642C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10050"/>
            <a:ext cx="95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7-input-3-label">
            <a:extLst xmlns:a="http://schemas.openxmlformats.org/drawingml/2006/main">
              <a:ext uri="{FF2B5EF4-FFF2-40B4-BE49-F238E27FC236}">
                <a16:creationId xmlns:a16="http://schemas.microsoft.com/office/drawing/2014/main" id="{F78289B7-F952-476E-8848-C2FDD425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624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融資與報酬</a:t>
            </a:r>
          </a:p>
        </p:txBody>
      </p:sp>
      <p:sp>
        <p:nvSpPr>
          <p:cNvPr id="29" name="s7-input-3-desc">
            <a:extLst xmlns:a="http://schemas.openxmlformats.org/drawingml/2006/main">
              <a:ext uri="{FF2B5EF4-FFF2-40B4-BE49-F238E27FC236}">
                <a16:creationId xmlns:a16="http://schemas.microsoft.com/office/drawing/2014/main" id="{8389221B-D69C-4A07-BAA2-35570FF8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767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無貸款；租金/成本固定</a:t>
            </a:r>
          </a:p>
          <a:p xmlns:a="http://schemas.openxmlformats.org/drawingml/2006/main">
            <a:pPr algn="l">
              <a:def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defRPr>
            </a:pPr>
            <a:r>
              <a:rPr sz="1050" b="0" i="0">
                <a:solidFill>
                  <a:srgbClr val="4B4742"/>
                </a:solidFill>
                <a:latin typeface="Noto Serif TC"/>
                <a:ea typeface="Noto Serif TC"/>
                <a:cs typeface="Noto Serif TC"/>
              </a:rPr>
              <a:t>出售資金投資報酬 3%</a:t>
            </a:r>
          </a:p>
        </p:txBody>
      </p:sp>
      <p:sp>
        <p:nvSpPr>
          <p:cNvPr id="30" name="s7-property">
            <a:extLst xmlns:a="http://schemas.openxmlformats.org/drawingml/2006/main">
              <a:ext uri="{FF2B5EF4-FFF2-40B4-BE49-F238E27FC236}">
                <a16:creationId xmlns:a16="http://schemas.microsoft.com/office/drawing/2014/main" id="{0BDBABEA-0242-4741-9117-8A92E602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00675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defRPr>
            </a:pPr>
            <a:r>
              <a:rPr sz="1050" b="0" i="0">
                <a:solidFill>
                  <a:srgbClr val="827B72"/>
                </a:solidFill>
                <a:latin typeface="Noto Serif TC"/>
                <a:ea typeface="Noto Serif TC"/>
                <a:cs typeface="Noto Serif TC"/>
              </a:rPr>
              <a:t>物件條件：板橋區大樓、30 坪、屋齡 15 年、7/14 樓、3 房 2 廳 2 衛、有管理/電梯、無車位。</a:t>
            </a:r>
          </a:p>
        </p:txBody>
      </p:sp>
      <p:sp>
        <p:nvSpPr>
          <p:cNvPr id="31" name="s7-warning">
            <a:extLst xmlns:a="http://schemas.openxmlformats.org/drawingml/2006/main">
              <a:ext uri="{FF2B5EF4-FFF2-40B4-BE49-F238E27FC236}">
                <a16:creationId xmlns:a16="http://schemas.microsoft.com/office/drawing/2014/main" id="{D8765C1A-4B32-4E96-A14F-01E3777A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5525"/>
            <a:ext cx="1076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defPPr>
            <a:lvl1pPr algn="ctr">
              <a:defRPr sz="9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1pPr>
            <a:lvl2pPr algn="ctr">
              <a:defRPr sz="9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2pPr>
            <a:lvl3pPr algn="ctr">
              <a:defRPr sz="9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3pPr>
            <a:lvl4pPr algn="ctr">
              <a:defRPr sz="9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4pPr>
            <a:lvl5pPr algn="ctr">
              <a:defRPr sz="9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5pPr>
            <a:lvl6pPr algn="ctr">
              <a:defRPr sz="9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6pPr>
            <a:lvl7pPr algn="ctr">
              <a:defRPr sz="9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7pPr>
            <a:lvl8pPr algn="ctr">
              <a:defRPr sz="9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8pPr>
            <a:lvl9pPr algn="ctr">
              <a:defRPr sz="9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ctr">
              <a:defRPr sz="9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pPr>
            <a:r>
              <a:rPr sz="975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rPr>
              <a:t>出售稅額與年度稅額是示範輸入，不是依稅法計算的個案金額；MAE 不是個別物件誤差保證。</a:t>
            </a:r>
          </a:p>
        </p:txBody>
      </p:sp>
    </p:spTree>
    <p:extLst>
      <p:ext uri="{BB962C8B-B14F-4D97-AF65-F5344CB8AC3E}">
        <p14:creationId xmlns:p14="http://schemas.microsoft.com/office/powerpoint/2010/main" val="7282147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8">
            <a:extLst xmlns:a="http://schemas.openxmlformats.org/drawingml/2006/main">
              <a:ext uri="{FF2B5EF4-FFF2-40B4-BE49-F238E27FC236}">
                <a16:creationId xmlns:a16="http://schemas.microsoft.com/office/drawing/2014/main" id="{15F34EE4-660B-4B29-AD5B-BAE447AA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A4233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42336"/>
                </a:solidFill>
                <a:latin typeface="Arial"/>
                <a:ea typeface="Arial"/>
                <a:cs typeface="Arial"/>
              </a:rPr>
              <a:t>07　十年情境比較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8B87CBC8-7287-4C9B-8B4C-727BFD3C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48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08  /  09   ·   02:00</a:t>
            </a:r>
          </a:p>
        </p:txBody>
      </p:sp>
      <p:sp>
        <p:nvSpPr>
          <p:cNvPr id="3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5695FAD5-9B86-43E1-85F6-8686C837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F3488819-E1F3-47AA-8B7D-A29DDDA5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-8">
            <a:extLst xmlns:a="http://schemas.openxmlformats.org/drawingml/2006/main">
              <a:ext uri="{FF2B5EF4-FFF2-40B4-BE49-F238E27FC236}">
                <a16:creationId xmlns:a16="http://schemas.microsoft.com/office/drawing/2014/main" id="{8921FA82-56B6-47C9-BEC8-1A423444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同一間房，賣掉還是出租？</a:t>
            </a:r>
          </a:p>
        </p:txBody>
      </p:sp>
      <p:sp>
        <p:nvSpPr>
          <p:cNvPr id="6" name="footer-time-8">
            <a:extLst xmlns:a="http://schemas.openxmlformats.org/drawingml/2006/main">
              <a:ext uri="{FF2B5EF4-FFF2-40B4-BE49-F238E27FC236}">
                <a16:creationId xmlns:a16="http://schemas.microsoft.com/office/drawing/2014/main" id="{6E284237-6CC6-4F92-9600-57340D06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43675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0" i="0">
                <a:solidFill>
                  <a:srgbClr val="827B72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827B72"/>
                </a:solidFill>
                <a:latin typeface="Arial"/>
                <a:ea typeface="Arial"/>
                <a:cs typeface="Arial"/>
              </a:rPr>
              <a:t>15 分鐘專題報告</a:t>
            </a:r>
          </a:p>
        </p:txBody>
      </p:sp>
      <p:sp>
        <p:nvSpPr>
          <p:cNvPr id="7" name="s8-kicker">
            <a:extLst xmlns:a="http://schemas.openxmlformats.org/drawingml/2006/main">
              <a:ext uri="{FF2B5EF4-FFF2-40B4-BE49-F238E27FC236}">
                <a16:creationId xmlns:a16="http://schemas.microsoft.com/office/drawing/2014/main" id="{4A9AA5E1-A20F-4017-B4B6-7B07A9B2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239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pPr>
            <a:r>
              <a:rPr sz="105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rPr>
              <a:t>第 10 年總資產　／　單位：萬元　／　數字由模型輸出和明列假設計算</a:t>
            </a:r>
          </a:p>
        </p:txBody>
      </p:sp>
      <p:sp>
        <p:nvSpPr>
          <p:cNvPr id="8" name="s8-title">
            <a:extLst xmlns:a="http://schemas.openxmlformats.org/drawingml/2006/main">
              <a:ext uri="{FF2B5EF4-FFF2-40B4-BE49-F238E27FC236}">
                <a16:creationId xmlns:a16="http://schemas.microsoft.com/office/drawing/2014/main" id="{AFA24777-7ADA-40FA-8680-140A0154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defPPr>
            <a:lvl1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  <a:lvl2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2pPr>
            <a:lvl3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3pPr>
            <a:lvl4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4pPr>
            <a:lvl5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5pPr>
            <a:lvl6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6pPr>
            <a:lvl7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7pPr>
            <a:lvl8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8pPr>
            <a:lvl9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9pPr>
          </a:lstStyle>
          <a:p xmlns:a="http://schemas.openxmlformats.org/drawingml/2006/main">
            <a:pPr algn="l">
              <a:def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pPr>
            <a:r>
              <a:rPr sz="2775" b="0" i="0">
                <a:solidFill>
                  <a:srgbClr val="1A1A1A"/>
                </a:solidFill>
                <a:latin typeface="Garamond"/>
                <a:ea typeface="Garamond"/>
                <a:cs typeface="Garamond"/>
              </a:rPr>
              <a:t>房價情境改變，賣與租的差額也翻轉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D7AD4D06-B2C6-42BF-8331-5C558358233A}"/>
              </a:ext>
            </a:extLst>
          </p:cNvPr>
          <p:cNvGraphicFramePr/>
          <p:nvPr/>
        </p:nvGraphicFramePr>
        <p:xfrm>
          <a:off xmlns:a="http://schemas.openxmlformats.org/drawingml/2006/main" x="704850" y="1952625"/>
          <a:ext xmlns:a="http://schemas.openxmlformats.org/drawingml/2006/main" cx="10763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0e5fefa2544438"/>
          </a:graphicData>
        </a:graphic>
      </p:graphicFrame>
      <p:sp>
        <p:nvSpPr>
          <p:cNvPr id="10" name="s8-result-rule">
            <a:extLst xmlns:a="http://schemas.openxmlformats.org/drawingml/2006/main">
              <a:ext uri="{FF2B5EF4-FFF2-40B4-BE49-F238E27FC236}">
                <a16:creationId xmlns:a16="http://schemas.microsoft.com/office/drawing/2014/main" id="{CF44B2DB-6A58-4DDE-8DB2-648007FD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2447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8-result-0">
            <a:extLst xmlns:a="http://schemas.openxmlformats.org/drawingml/2006/main">
              <a:ext uri="{FF2B5EF4-FFF2-40B4-BE49-F238E27FC236}">
                <a16:creationId xmlns:a16="http://schemas.microsoft.com/office/drawing/2014/main" id="{2B86CE36-BF9C-4CBB-ACD5-19849B31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9592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0%：出售高 379 萬</a:t>
            </a:r>
          </a:p>
        </p:txBody>
      </p:sp>
      <p:sp>
        <p:nvSpPr>
          <p:cNvPr id="12" name="s8-result-2">
            <a:extLst xmlns:a="http://schemas.openxmlformats.org/drawingml/2006/main">
              <a:ext uri="{FF2B5EF4-FFF2-40B4-BE49-F238E27FC236}">
                <a16:creationId xmlns:a16="http://schemas.microsoft.com/office/drawing/2014/main" id="{54BE8484-7450-4E82-AE5D-9051C3B3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495925"/>
            <a:ext cx="328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2%：出售高 3 萬</a:t>
            </a:r>
          </a:p>
        </p:txBody>
      </p:sp>
      <p:sp>
        <p:nvSpPr>
          <p:cNvPr id="13" name="s8-result-4">
            <a:extLst xmlns:a="http://schemas.openxmlformats.org/drawingml/2006/main">
              <a:ext uri="{FF2B5EF4-FFF2-40B4-BE49-F238E27FC236}">
                <a16:creationId xmlns:a16="http://schemas.microsoft.com/office/drawing/2014/main" id="{EAE8E031-71A8-4320-BF59-75C7C85D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95925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 i="0">
                <a:solidFill>
                  <a:srgbClr val="A42336"/>
                </a:solidFill>
                <a:latin typeface="Noto Serif TC"/>
                <a:ea typeface="Noto Serif TC"/>
                <a:cs typeface="Noto Serif TC"/>
              </a:rPr>
              <a:t>4%：出租高 446 萬</a:t>
            </a:r>
          </a:p>
        </p:txBody>
      </p:sp>
      <p:sp>
        <p:nvSpPr>
          <p:cNvPr id="14" name="s8-breakeven-band">
            <a:extLst xmlns:a="http://schemas.openxmlformats.org/drawingml/2006/main">
              <a:ext uri="{FF2B5EF4-FFF2-40B4-BE49-F238E27FC236}">
                <a16:creationId xmlns:a16="http://schemas.microsoft.com/office/drawing/2014/main" id="{DBCF3D59-C39A-4F39-8055-046DEE75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76925"/>
            <a:ext cx="107823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8-breakeven">
            <a:extLst xmlns:a="http://schemas.openxmlformats.org/drawingml/2006/main">
              <a:ext uri="{FF2B5EF4-FFF2-40B4-BE49-F238E27FC236}">
                <a16:creationId xmlns:a16="http://schemas.microsoft.com/office/drawing/2014/main" id="{09A6DC93-60A7-43B6-9629-93EE7431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62650"/>
            <a:ext cx="10458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defPPr>
            <a:lvl1pPr algn="ctr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1pPr>
            <a:lvl2pPr algn="ctr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2pPr>
            <a:lvl3pPr algn="ctr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3pPr>
            <a:lvl4pPr algn="ctr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4pPr>
            <a:lvl5pPr algn="ctr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5pPr>
            <a:lvl6pPr algn="ctr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6pPr>
            <a:lvl7pPr algn="ctr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7pPr>
            <a:lvl8pPr algn="ctr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8pPr>
            <a:lvl9pPr algn="ctr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defRPr>
            </a:pPr>
            <a:r>
              <a:rPr sz="1200" b="1" i="0">
                <a:solidFill>
                  <a:srgbClr val="1A1A1A"/>
                </a:solidFill>
                <a:latin typeface="Noto Serif TC"/>
                <a:ea typeface="Noto Serif TC"/>
                <a:cs typeface="Noto Serif TC"/>
              </a:rPr>
              <a:t>這組模型預測與成本假設下，損益平衡房價年變動約 2.01%　｜　不是房價預測</a:t>
            </a:r>
          </a:p>
        </p:txBody>
      </p:sp>
    </p:spTree>
    <p:extLst>
      <p:ext uri="{BB962C8B-B14F-4D97-AF65-F5344CB8AC3E}">
        <p14:creationId xmlns:p14="http://schemas.microsoft.com/office/powerpoint/2010/main" val="19027928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A1A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9">
            <a:extLst xmlns:a="http://schemas.openxmlformats.org/drawingml/2006/main">
              <a:ext uri="{FF2B5EF4-FFF2-40B4-BE49-F238E27FC236}">
                <a16:creationId xmlns:a16="http://schemas.microsoft.com/office/drawing/2014/main" id="{AF522884-B3C8-4BC1-B53B-B7268C1B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 i="0">
                <a:solidFill>
                  <a:srgbClr val="E7A8AD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E7A8AD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E7A8AD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E7A8AD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E7A8AD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E7A8AD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E7A8AD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E7A8AD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E7A8AD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E7A8A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E7A8A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7A8AD"/>
                </a:solidFill>
                <a:latin typeface="Arial"/>
                <a:ea typeface="Arial"/>
                <a:cs typeface="Arial"/>
              </a:rPr>
              <a:t>結論　／　研究界線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35C5290F-0926-43EB-B417-BE2E889B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48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4CDC4"/>
                </a:solidFill>
                <a:latin typeface="Arial"/>
                <a:ea typeface="Arial"/>
                <a:cs typeface="Arial"/>
              </a:rPr>
              <a:t>09  /  09   ·   01:00</a:t>
            </a:r>
          </a:p>
        </p:txBody>
      </p:sp>
      <p:sp>
        <p:nvSpPr>
          <p:cNvPr id="3" name="header-rule-9">
            <a:extLst xmlns:a="http://schemas.openxmlformats.org/drawingml/2006/main">
              <a:ext uri="{FF2B5EF4-FFF2-40B4-BE49-F238E27FC236}">
                <a16:creationId xmlns:a16="http://schemas.microsoft.com/office/drawing/2014/main" id="{59451905-6EB5-40A3-9B0F-D439C566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57744D12-784C-462F-8E6D-779C0B75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-9">
            <a:extLst xmlns:a="http://schemas.openxmlformats.org/drawingml/2006/main">
              <a:ext uri="{FF2B5EF4-FFF2-40B4-BE49-F238E27FC236}">
                <a16:creationId xmlns:a16="http://schemas.microsoft.com/office/drawing/2014/main" id="{C0184675-F81E-4729-8A01-2CBB307F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D4CDC4"/>
                </a:solidFill>
                <a:latin typeface="Arial"/>
                <a:ea typeface="Arial"/>
                <a:cs typeface="Arial"/>
              </a:rPr>
              <a:t>同一間房，賣掉還是出租？</a:t>
            </a:r>
          </a:p>
        </p:txBody>
      </p:sp>
      <p:sp>
        <p:nvSpPr>
          <p:cNvPr id="6" name="footer-time-9">
            <a:extLst xmlns:a="http://schemas.openxmlformats.org/drawingml/2006/main">
              <a:ext uri="{FF2B5EF4-FFF2-40B4-BE49-F238E27FC236}">
                <a16:creationId xmlns:a16="http://schemas.microsoft.com/office/drawing/2014/main" id="{DDE01962-82D8-4E10-9A70-AD074836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43675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defPPr>
            <a:lvl1pPr algn="r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1pPr>
            <a:lvl2pPr algn="r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2pPr>
            <a:lvl3pPr algn="r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3pPr>
            <a:lvl4pPr algn="r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4pPr>
            <a:lvl5pPr algn="r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5pPr>
            <a:lvl6pPr algn="r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6pPr>
            <a:lvl7pPr algn="r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7pPr>
            <a:lvl8pPr algn="r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8pPr>
            <a:lvl9pPr algn="r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750" b="0" i="0">
                <a:solidFill>
                  <a:srgbClr val="D4CDC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D4CDC4"/>
                </a:solidFill>
                <a:latin typeface="Arial"/>
                <a:ea typeface="Arial"/>
                <a:cs typeface="Arial"/>
              </a:rPr>
              <a:t>15 分鐘專題報告</a:t>
            </a:r>
          </a:p>
        </p:txBody>
      </p:sp>
      <p:sp>
        <p:nvSpPr>
          <p:cNvPr id="7" name="s9-kicker">
            <a:extLst xmlns:a="http://schemas.openxmlformats.org/drawingml/2006/main">
              <a:ext uri="{FF2B5EF4-FFF2-40B4-BE49-F238E27FC236}">
                <a16:creationId xmlns:a16="http://schemas.microsoft.com/office/drawing/2014/main" id="{A9842FF4-DACB-402E-9FF8-B07364A6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628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rPr>
              <a:t>條件式結論　／　沒有脫離輸入的絕對答案</a:t>
            </a:r>
          </a:p>
        </p:txBody>
      </p:sp>
      <p:sp>
        <p:nvSpPr>
          <p:cNvPr id="8" name="s9-title">
            <a:extLst xmlns:a="http://schemas.openxmlformats.org/drawingml/2006/main">
              <a:ext uri="{FF2B5EF4-FFF2-40B4-BE49-F238E27FC236}">
                <a16:creationId xmlns:a16="http://schemas.microsoft.com/office/drawing/2014/main" id="{98E5D292-2A97-4157-84DF-7E4C9FF0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47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225" b="0" i="0">
                <a:solidFill>
                  <a:srgbClr val="FAF9F7"/>
                </a:solidFill>
                <a:latin typeface="Garamond"/>
                <a:ea typeface="Garamond"/>
                <a:cs typeface="Garamond"/>
              </a:defRPr>
            </a:defPPr>
            <a:lvl1pPr algn="l">
              <a:defRPr sz="3225" b="0" i="0">
                <a:solidFill>
                  <a:srgbClr val="FAF9F7"/>
                </a:solidFill>
                <a:latin typeface="Garamond"/>
                <a:ea typeface="Garamond"/>
                <a:cs typeface="Garamond"/>
              </a:defRPr>
            </a:lvl1pPr>
            <a:lvl2pPr algn="l">
              <a:defRPr sz="3225" b="0" i="0">
                <a:solidFill>
                  <a:srgbClr val="FAF9F7"/>
                </a:solidFill>
                <a:latin typeface="Garamond"/>
                <a:ea typeface="Garamond"/>
                <a:cs typeface="Garamond"/>
              </a:defRPr>
            </a:lvl2pPr>
            <a:lvl3pPr algn="l">
              <a:defRPr sz="3225" b="0" i="0">
                <a:solidFill>
                  <a:srgbClr val="FAF9F7"/>
                </a:solidFill>
                <a:latin typeface="Garamond"/>
                <a:ea typeface="Garamond"/>
                <a:cs typeface="Garamond"/>
              </a:defRPr>
            </a:lvl3pPr>
            <a:lvl4pPr algn="l">
              <a:defRPr sz="3225" b="0" i="0">
                <a:solidFill>
                  <a:srgbClr val="FAF9F7"/>
                </a:solidFill>
                <a:latin typeface="Garamond"/>
                <a:ea typeface="Garamond"/>
                <a:cs typeface="Garamond"/>
              </a:defRPr>
            </a:lvl4pPr>
            <a:lvl5pPr algn="l">
              <a:defRPr sz="3225" b="0" i="0">
                <a:solidFill>
                  <a:srgbClr val="FAF9F7"/>
                </a:solidFill>
                <a:latin typeface="Garamond"/>
                <a:ea typeface="Garamond"/>
                <a:cs typeface="Garamond"/>
              </a:defRPr>
            </a:lvl5pPr>
            <a:lvl6pPr algn="l">
              <a:defRPr sz="3225" b="0" i="0">
                <a:solidFill>
                  <a:srgbClr val="FAF9F7"/>
                </a:solidFill>
                <a:latin typeface="Garamond"/>
                <a:ea typeface="Garamond"/>
                <a:cs typeface="Garamond"/>
              </a:defRPr>
            </a:lvl6pPr>
            <a:lvl7pPr algn="l">
              <a:defRPr sz="3225" b="0" i="0">
                <a:solidFill>
                  <a:srgbClr val="FAF9F7"/>
                </a:solidFill>
                <a:latin typeface="Garamond"/>
                <a:ea typeface="Garamond"/>
                <a:cs typeface="Garamond"/>
              </a:defRPr>
            </a:lvl7pPr>
            <a:lvl8pPr algn="l">
              <a:defRPr sz="3225" b="0" i="0">
                <a:solidFill>
                  <a:srgbClr val="FAF9F7"/>
                </a:solidFill>
                <a:latin typeface="Garamond"/>
                <a:ea typeface="Garamond"/>
                <a:cs typeface="Garamond"/>
              </a:defRPr>
            </a:lvl8pPr>
            <a:lvl9pPr algn="l">
              <a:defRPr sz="3225" b="0" i="0">
                <a:solidFill>
                  <a:srgbClr val="FAF9F7"/>
                </a:solidFill>
                <a:latin typeface="Garamond"/>
                <a:ea typeface="Garamond"/>
                <a:cs typeface="Garamond"/>
              </a:defRPr>
            </a:lvl9pPr>
          </a:lstStyle>
          <a:p xmlns:a="http://schemas.openxmlformats.org/drawingml/2006/main">
            <a:pPr algn="l">
              <a:defRPr sz="3225" b="0" i="0">
                <a:solidFill>
                  <a:srgbClr val="FAF9F7"/>
                </a:solidFill>
                <a:latin typeface="Garamond"/>
                <a:ea typeface="Garamond"/>
                <a:cs typeface="Garamond"/>
              </a:defRPr>
            </a:pPr>
            <a:r>
              <a:rPr sz="3225" b="0" i="0">
                <a:solidFill>
                  <a:srgbClr val="FAF9F7"/>
                </a:solidFill>
                <a:latin typeface="Garamond"/>
                <a:ea typeface="Garamond"/>
                <a:cs typeface="Garamond"/>
              </a:rPr>
              <a:t>比較的核心，</a:t>
            </a:r>
          </a:p>
          <a:p xmlns:a="http://schemas.openxmlformats.org/drawingml/2006/main">
            <a:pPr algn="l">
              <a:defRPr sz="3225" b="0" i="0">
                <a:solidFill>
                  <a:srgbClr val="FAF9F7"/>
                </a:solidFill>
                <a:latin typeface="Garamond"/>
                <a:ea typeface="Garamond"/>
                <a:cs typeface="Garamond"/>
              </a:defRPr>
            </a:pPr>
            <a:r>
              <a:rPr sz="3225" b="0" i="0">
                <a:solidFill>
                  <a:srgbClr val="FAF9F7"/>
                </a:solidFill>
                <a:latin typeface="Garamond"/>
                <a:ea typeface="Garamond"/>
                <a:cs typeface="Garamond"/>
              </a:rPr>
              <a:t>是第 N 年淨資產。</a:t>
            </a:r>
          </a:p>
        </p:txBody>
      </p:sp>
      <p:sp>
        <p:nvSpPr>
          <p:cNvPr id="9" name="s9-accent">
            <a:extLst xmlns:a="http://schemas.openxmlformats.org/drawingml/2006/main">
              <a:ext uri="{FF2B5EF4-FFF2-40B4-BE49-F238E27FC236}">
                <a16:creationId xmlns:a16="http://schemas.microsoft.com/office/drawing/2014/main" id="{2246631D-620A-4843-9E4C-468877C1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8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9-verdict">
            <a:extLst xmlns:a="http://schemas.openxmlformats.org/drawingml/2006/main">
              <a:ext uri="{FF2B5EF4-FFF2-40B4-BE49-F238E27FC236}">
                <a16:creationId xmlns:a16="http://schemas.microsoft.com/office/drawing/2014/main" id="{830C994B-1B8F-4343-85BB-838C1D9D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6048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50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50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50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50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50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50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50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50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50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pPr>
            <a:r>
              <a:rPr sz="150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rPr>
              <a:t>房價持平：出售高 379 萬。</a:t>
            </a:r>
          </a:p>
          <a:p xmlns:a="http://schemas.openxmlformats.org/drawingml/2006/main">
            <a:pPr algn="l">
              <a:defRPr sz="150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pPr>
            <a:r>
              <a:rPr sz="150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rPr>
              <a:t>年增 2%：兩方案只差約 3 萬。</a:t>
            </a:r>
          </a:p>
          <a:p xmlns:a="http://schemas.openxmlformats.org/drawingml/2006/main">
            <a:pPr algn="l">
              <a:defRPr sz="150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pPr>
            <a:r>
              <a:rPr sz="150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rPr>
              <a:t>年增 4%：出租高 446 萬。</a:t>
            </a:r>
          </a:p>
        </p:txBody>
      </p:sp>
      <p:sp>
        <p:nvSpPr>
          <p:cNvPr id="11" name="s9-follow">
            <a:extLst xmlns:a="http://schemas.openxmlformats.org/drawingml/2006/main">
              <a:ext uri="{FF2B5EF4-FFF2-40B4-BE49-F238E27FC236}">
                <a16:creationId xmlns:a16="http://schemas.microsoft.com/office/drawing/2014/main" id="{4B9063E8-79FA-4912-9B22-8DAB570F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6048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D4CDC4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350" b="0" i="0">
                <a:solidFill>
                  <a:srgbClr val="D4CDC4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350" b="0" i="0">
                <a:solidFill>
                  <a:srgbClr val="D4CDC4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350" b="0" i="0">
                <a:solidFill>
                  <a:srgbClr val="D4CDC4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350" b="0" i="0">
                <a:solidFill>
                  <a:srgbClr val="D4CDC4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350" b="0" i="0">
                <a:solidFill>
                  <a:srgbClr val="D4CDC4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350" b="0" i="0">
                <a:solidFill>
                  <a:srgbClr val="D4CDC4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350" b="0" i="0">
                <a:solidFill>
                  <a:srgbClr val="D4CDC4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350" b="0" i="0">
                <a:solidFill>
                  <a:srgbClr val="D4CDC4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350" b="0" i="0">
                <a:solidFill>
                  <a:srgbClr val="D4CDC4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D4CDC4"/>
                </a:solidFill>
                <a:latin typeface="Noto Serif TC"/>
                <a:ea typeface="Noto Serif TC"/>
                <a:cs typeface="Noto Serif TC"/>
              </a:defRPr>
            </a:pPr>
            <a:r>
              <a:rPr sz="1350" b="0" i="0">
                <a:solidFill>
                  <a:srgbClr val="D4CDC4"/>
                </a:solidFill>
                <a:latin typeface="Noto Serif TC"/>
                <a:ea typeface="Noto Serif TC"/>
                <a:cs typeface="Noto Serif TC"/>
              </a:rPr>
              <a:t>損益平衡約 2.01% 年增；模型只估現在，未來房價仍是情境。</a:t>
            </a:r>
          </a:p>
        </p:txBody>
      </p:sp>
      <p:sp>
        <p:nvSpPr>
          <p:cNvPr id="12" name="s9-limits-heading">
            <a:extLst xmlns:a="http://schemas.openxmlformats.org/drawingml/2006/main">
              <a:ext uri="{FF2B5EF4-FFF2-40B4-BE49-F238E27FC236}">
                <a16:creationId xmlns:a16="http://schemas.microsoft.com/office/drawing/2014/main" id="{D24F676C-C354-438C-961A-C10D5E72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00125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500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500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500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500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500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500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500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500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500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pPr>
            <a:r>
              <a:rPr sz="1500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rPr>
              <a:t>報告時要說清楚</a:t>
            </a:r>
          </a:p>
        </p:txBody>
      </p:sp>
      <p:sp>
        <p:nvSpPr>
          <p:cNvPr id="13" name="s9-limit-rule-0">
            <a:extLst xmlns:a="http://schemas.openxmlformats.org/drawingml/2006/main">
              <a:ext uri="{FF2B5EF4-FFF2-40B4-BE49-F238E27FC236}">
                <a16:creationId xmlns:a16="http://schemas.microsoft.com/office/drawing/2014/main" id="{FE129F3C-E565-4FB6-AB9E-5B438B68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38275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9-limit-0">
            <a:extLst xmlns:a="http://schemas.openxmlformats.org/drawingml/2006/main">
              <a:ext uri="{FF2B5EF4-FFF2-40B4-BE49-F238E27FC236}">
                <a16:creationId xmlns:a16="http://schemas.microsoft.com/office/drawing/2014/main" id="{8A36A8DB-9BF1-4277-BECB-D51E5C08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43050"/>
            <a:ext cx="417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rPr>
              <a:t>模型用新北實登；測試 MAE 不是個案保證。</a:t>
            </a:r>
          </a:p>
        </p:txBody>
      </p:sp>
      <p:sp>
        <p:nvSpPr>
          <p:cNvPr id="15" name="s9-limit-rule-1">
            <a:extLst xmlns:a="http://schemas.openxmlformats.org/drawingml/2006/main">
              <a:ext uri="{FF2B5EF4-FFF2-40B4-BE49-F238E27FC236}">
                <a16:creationId xmlns:a16="http://schemas.microsoft.com/office/drawing/2014/main" id="{12E96A2A-7721-46C1-BFC2-851B340B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66925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9-limit-1">
            <a:extLst xmlns:a="http://schemas.openxmlformats.org/drawingml/2006/main">
              <a:ext uri="{FF2B5EF4-FFF2-40B4-BE49-F238E27FC236}">
                <a16:creationId xmlns:a16="http://schemas.microsoft.com/office/drawing/2014/main" id="{8CCEFC06-2C5C-42E7-8C2E-86A3F37A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71700"/>
            <a:ext cx="417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rPr>
              <a:t>租金、空置、維修、稅與貸款假設會改變結論。</a:t>
            </a:r>
          </a:p>
        </p:txBody>
      </p:sp>
      <p:sp>
        <p:nvSpPr>
          <p:cNvPr id="17" name="s9-limit-rule-2">
            <a:extLst xmlns:a="http://schemas.openxmlformats.org/drawingml/2006/main">
              <a:ext uri="{FF2B5EF4-FFF2-40B4-BE49-F238E27FC236}">
                <a16:creationId xmlns:a16="http://schemas.microsoft.com/office/drawing/2014/main" id="{C3DEEB77-803A-46C4-9A4D-5D2A680E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95575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9-limit-2">
            <a:extLst xmlns:a="http://schemas.openxmlformats.org/drawingml/2006/main">
              <a:ext uri="{FF2B5EF4-FFF2-40B4-BE49-F238E27FC236}">
                <a16:creationId xmlns:a16="http://schemas.microsoft.com/office/drawing/2014/main" id="{9FB08C58-3736-4FBE-98BF-43C9451C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00350"/>
            <a:ext cx="417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rPr>
              <a:t>房屋稅、地價稅和出售稅要按個人稅單估算。</a:t>
            </a:r>
          </a:p>
        </p:txBody>
      </p:sp>
      <p:sp>
        <p:nvSpPr>
          <p:cNvPr id="19" name="s9-limit-rule-3">
            <a:extLst xmlns:a="http://schemas.openxmlformats.org/drawingml/2006/main">
              <a:ext uri="{FF2B5EF4-FFF2-40B4-BE49-F238E27FC236}">
                <a16:creationId xmlns:a16="http://schemas.microsoft.com/office/drawing/2014/main" id="{1621DF82-85EE-463C-83A9-C72BC0C6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24225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9-limit-3">
            <a:extLst xmlns:a="http://schemas.openxmlformats.org/drawingml/2006/main">
              <a:ext uri="{FF2B5EF4-FFF2-40B4-BE49-F238E27FC236}">
                <a16:creationId xmlns:a16="http://schemas.microsoft.com/office/drawing/2014/main" id="{E77AED51-0B9D-4AC2-9A93-0128701B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29000"/>
            <a:ext cx="417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rPr>
              <a:t>專題是比較工具，不是個人財務或稅務建議。</a:t>
            </a:r>
          </a:p>
        </p:txBody>
      </p:sp>
      <p:sp>
        <p:nvSpPr>
          <p:cNvPr id="21" name="s9-sources-rule">
            <a:extLst xmlns:a="http://schemas.openxmlformats.org/drawingml/2006/main">
              <a:ext uri="{FF2B5EF4-FFF2-40B4-BE49-F238E27FC236}">
                <a16:creationId xmlns:a16="http://schemas.microsoft.com/office/drawing/2014/main" id="{B06EAA12-F044-4D95-BAE5-DB0FA9C2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48125"/>
            <a:ext cx="417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9-source-title">
            <a:extLst xmlns:a="http://schemas.openxmlformats.org/drawingml/2006/main">
              <a:ext uri="{FF2B5EF4-FFF2-40B4-BE49-F238E27FC236}">
                <a16:creationId xmlns:a16="http://schemas.microsoft.com/office/drawing/2014/main" id="{D18261C0-D9FD-4B70-BA0F-3B32E35E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91000"/>
            <a:ext cx="417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pPr>
            <a:r>
              <a:rPr sz="1125" b="1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rPr>
              <a:t>資料與方法來源詳列於講者備忘稿</a:t>
            </a:r>
          </a:p>
        </p:txBody>
      </p:sp>
      <p:sp>
        <p:nvSpPr>
          <p:cNvPr id="23" name="s9-source-text">
            <a:extLst xmlns:a="http://schemas.openxmlformats.org/drawingml/2006/main">
              <a:ext uri="{FF2B5EF4-FFF2-40B4-BE49-F238E27FC236}">
                <a16:creationId xmlns:a16="http://schemas.microsoft.com/office/drawing/2014/main" id="{1E389026-9525-4D30-AD57-65D30E66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14850"/>
            <a:ext cx="4171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defPPr>
            <a:lvl1pPr algn="l">
              <a:defRPr sz="105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1pPr>
            <a:lvl2pPr algn="l">
              <a:defRPr sz="105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2pPr>
            <a:lvl3pPr algn="l">
              <a:defRPr sz="105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3pPr>
            <a:lvl4pPr algn="l">
              <a:defRPr sz="105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4pPr>
            <a:lvl5pPr algn="l">
              <a:defRPr sz="105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5pPr>
            <a:lvl6pPr algn="l">
              <a:defRPr sz="105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6pPr>
            <a:lvl7pPr algn="l">
              <a:defRPr sz="105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7pPr>
            <a:lvl8pPr algn="l">
              <a:defRPr sz="105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8pPr>
            <a:lvl9pPr algn="l">
              <a:defRPr sz="105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pPr>
            <a:r>
              <a:rPr sz="105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rPr>
              <a:t>新北租賃/買賣實價登錄</a:t>
            </a:r>
          </a:p>
          <a:p xmlns:a="http://schemas.openxmlformats.org/drawingml/2006/main">
            <a:pPr algn="l">
              <a:defRPr sz="105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pPr>
            <a:r>
              <a:rPr sz="105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rPr>
              <a:t>財政部房屋稅、地價稅、房地稅</a:t>
            </a:r>
          </a:p>
          <a:p xmlns:a="http://schemas.openxmlformats.org/drawingml/2006/main">
            <a:pPr algn="l">
              <a:defRPr sz="105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defRPr>
            </a:pPr>
            <a:r>
              <a:rPr sz="1050" b="0" i="0">
                <a:solidFill>
                  <a:srgbClr val="FAF9F7"/>
                </a:solidFill>
                <a:latin typeface="Noto Serif TC"/>
                <a:ea typeface="Noto Serif TC"/>
                <a:cs typeface="Noto Serif TC"/>
              </a:rPr>
              <a:t>scikit-learn：Random Forest / MAE / RMSE</a:t>
            </a:r>
          </a:p>
        </p:txBody>
      </p:sp>
      <p:sp>
        <p:nvSpPr>
          <p:cNvPr id="24" name="s9-final-line">
            <a:extLst xmlns:a="http://schemas.openxmlformats.org/drawingml/2006/main">
              <a:ext uri="{FF2B5EF4-FFF2-40B4-BE49-F238E27FC236}">
                <a16:creationId xmlns:a16="http://schemas.microsoft.com/office/drawing/2014/main" id="{D66F59DE-7E60-49AC-BE4B-A08E632B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72175"/>
            <a:ext cx="10801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defPPr>
            <a:lvl1pPr algn="ctr">
              <a:defRPr sz="1350" b="0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1pPr>
            <a:lvl2pPr algn="ctr">
              <a:defRPr sz="1350" b="0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2pPr>
            <a:lvl3pPr algn="ctr">
              <a:defRPr sz="1350" b="0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3pPr>
            <a:lvl4pPr algn="ctr">
              <a:defRPr sz="1350" b="0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4pPr>
            <a:lvl5pPr algn="ctr">
              <a:defRPr sz="1350" b="0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5pPr>
            <a:lvl6pPr algn="ctr">
              <a:defRPr sz="1350" b="0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6pPr>
            <a:lvl7pPr algn="ctr">
              <a:defRPr sz="1350" b="0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7pPr>
            <a:lvl8pPr algn="ctr">
              <a:defRPr sz="1350" b="0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8pPr>
            <a:lvl9pPr algn="ctr">
              <a:defRPr sz="1350" b="0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defRPr>
            </a:pPr>
            <a:r>
              <a:rPr sz="1350" b="0" i="0">
                <a:solidFill>
                  <a:srgbClr val="E7A8AD"/>
                </a:solidFill>
                <a:latin typeface="Noto Serif TC"/>
                <a:ea typeface="Noto Serif TC"/>
                <a:cs typeface="Noto Serif TC"/>
              </a:rPr>
              <a:t>用真實租售估值，納入全部成本，再做多種房價情境比較。</a:t>
            </a:r>
          </a:p>
        </p:txBody>
      </p:sp>
    </p:spTree>
    <p:extLst>
      <p:ext uri="{BB962C8B-B14F-4D97-AF65-F5344CB8AC3E}">
        <p14:creationId xmlns:p14="http://schemas.microsoft.com/office/powerpoint/2010/main" val="859036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2026-10-21T12:42:25.9870000Z</dcterms:created>
  <dcterms:modified xsi:type="dcterms:W3CDTF">2026-10-21T12:42:25.9870000Z</dcterms:modified>
</coreProperties>
</file>